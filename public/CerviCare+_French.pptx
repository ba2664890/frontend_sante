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embeddedFontLst>
    <p:embeddedFont>
      <p:font typeface="MiSans" panose="020B0604020202020204" charset="-122"/>
      <p:regular r:id="rId22"/>
    </p:embeddedFont>
    <p:embeddedFont>
      <p:font typeface="Noto Sans SC" panose="020B0604020202020204" charset="-128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883" autoAdjust="0"/>
  </p:normalViewPr>
  <p:slideViewPr>
    <p:cSldViewPr snapToGrid="0" snapToObjects="1">
      <p:cViewPr varScale="1">
        <p:scale>
          <a:sx n="64" d="100"/>
          <a:sy n="64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93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1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6-d2nfa718bjvh7rlj0gm0.png"/>
          <p:cNvPicPr>
            <a:picLocks noChangeAspect="1"/>
          </p:cNvPicPr>
          <p:nvPr/>
        </p:nvPicPr>
        <p:blipFill>
          <a:blip r:embed="rId3"/>
          <a:srcRect l="13" r="13"/>
          <a:stretch/>
        </p:blipFill>
        <p:spPr>
          <a:xfrm>
            <a:off x="0" y="74950"/>
            <a:ext cx="12218670" cy="6857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86828" y="2408489"/>
            <a:ext cx="8327390" cy="227754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5400" b="1" dirty="0" err="1" smtClean="0">
                <a:solidFill>
                  <a:schemeClr val="accent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Depisteel</a:t>
            </a:r>
            <a:r>
              <a:rPr lang="en-US" sz="5400" b="1" dirty="0" smtClean="0">
                <a:solidFill>
                  <a:schemeClr val="accent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5400" b="1" dirty="0" smtClean="0">
                <a:solidFill>
                  <a:schemeClr val="accent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5400" b="1" dirty="0">
              <a:solidFill>
                <a:schemeClr val="accent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sz="4400" b="1" dirty="0" smtClean="0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Santé </a:t>
            </a:r>
            <a:r>
              <a:rPr lang="en-US" sz="4400" b="1" dirty="0" err="1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4400" b="1" dirty="0" err="1" smtClean="0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umérique</a:t>
            </a:r>
            <a:r>
              <a:rPr lang="en-US" sz="4400" b="1" dirty="0" smtClean="0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4400" b="1" dirty="0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 </a:t>
            </a:r>
            <a:r>
              <a:rPr lang="en-US" sz="4400" b="1" dirty="0" smtClean="0">
                <a:solidFill>
                  <a:schemeClr val="accent3">
                    <a:lumMod val="25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Col, du sein et de la prostate</a:t>
            </a:r>
            <a:endParaRPr lang="en-US" sz="1100" dirty="0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4" name="Freeform 8"/>
          <p:cNvSpPr/>
          <p:nvPr/>
        </p:nvSpPr>
        <p:spPr>
          <a:xfrm>
            <a:off x="188536" y="229556"/>
            <a:ext cx="2941164" cy="2051731"/>
          </a:xfrm>
          <a:custGeom>
            <a:avLst/>
            <a:gdLst/>
            <a:ahLst/>
            <a:cxnLst/>
            <a:rect l="l" t="t" r="r" b="b"/>
            <a:pathLst>
              <a:path w="5733392" h="3296818">
                <a:moveTo>
                  <a:pt x="0" y="0"/>
                </a:moveTo>
                <a:lnTo>
                  <a:pt x="5733392" y="0"/>
                </a:lnTo>
                <a:lnTo>
                  <a:pt x="5733392" y="3296817"/>
                </a:lnTo>
                <a:lnTo>
                  <a:pt x="0" y="3296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697" t="-37664" r="-17558" b="-26133"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6" name="Group 9"/>
          <p:cNvGrpSpPr/>
          <p:nvPr/>
        </p:nvGrpSpPr>
        <p:grpSpPr>
          <a:xfrm>
            <a:off x="1859980" y="5121953"/>
            <a:ext cx="8438457" cy="1314582"/>
            <a:chOff x="0" y="0"/>
            <a:chExt cx="11251277" cy="1752775"/>
          </a:xfrm>
        </p:grpSpPr>
        <p:grpSp>
          <p:nvGrpSpPr>
            <p:cNvPr id="7" name="Group 10"/>
            <p:cNvGrpSpPr/>
            <p:nvPr/>
          </p:nvGrpSpPr>
          <p:grpSpPr>
            <a:xfrm>
              <a:off x="2023448" y="270875"/>
              <a:ext cx="2423423" cy="1481900"/>
              <a:chOff x="0" y="0"/>
              <a:chExt cx="4685537" cy="286516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685516" cy="2865144"/>
              </a:xfrm>
              <a:custGeom>
                <a:avLst/>
                <a:gdLst/>
                <a:ahLst/>
                <a:cxnLst/>
                <a:rect l="l" t="t" r="r" b="b"/>
                <a:pathLst>
                  <a:path w="4685516" h="2865144">
                    <a:moveTo>
                      <a:pt x="0" y="0"/>
                    </a:moveTo>
                    <a:lnTo>
                      <a:pt x="4685516" y="0"/>
                    </a:lnTo>
                    <a:lnTo>
                      <a:pt x="4685516" y="2865144"/>
                    </a:lnTo>
                    <a:lnTo>
                      <a:pt x="0" y="28651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1604" b="-31605"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8" name="Freeform 12"/>
            <p:cNvSpPr/>
            <p:nvPr/>
          </p:nvSpPr>
          <p:spPr>
            <a:xfrm>
              <a:off x="0" y="0"/>
              <a:ext cx="1375522" cy="1752775"/>
            </a:xfrm>
            <a:custGeom>
              <a:avLst/>
              <a:gdLst/>
              <a:ahLst/>
              <a:cxnLst/>
              <a:rect l="l" t="t" r="r" b="b"/>
              <a:pathLst>
                <a:path w="1375522" h="1752775">
                  <a:moveTo>
                    <a:pt x="0" y="0"/>
                  </a:moveTo>
                  <a:lnTo>
                    <a:pt x="1375522" y="0"/>
                  </a:lnTo>
                  <a:lnTo>
                    <a:pt x="1375522" y="1752775"/>
                  </a:lnTo>
                  <a:lnTo>
                    <a:pt x="0" y="1752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13"/>
            <p:cNvSpPr/>
            <p:nvPr/>
          </p:nvSpPr>
          <p:spPr>
            <a:xfrm>
              <a:off x="8659895" y="605134"/>
              <a:ext cx="2591381" cy="813383"/>
            </a:xfrm>
            <a:custGeom>
              <a:avLst/>
              <a:gdLst/>
              <a:ahLst/>
              <a:cxnLst/>
              <a:rect l="l" t="t" r="r" b="b"/>
              <a:pathLst>
                <a:path w="2591381" h="813383">
                  <a:moveTo>
                    <a:pt x="0" y="0"/>
                  </a:moveTo>
                  <a:lnTo>
                    <a:pt x="2591382" y="0"/>
                  </a:lnTo>
                  <a:lnTo>
                    <a:pt x="2591382" y="813383"/>
                  </a:lnTo>
                  <a:lnTo>
                    <a:pt x="0" y="813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4"/>
            <p:cNvSpPr/>
            <p:nvPr/>
          </p:nvSpPr>
          <p:spPr>
            <a:xfrm>
              <a:off x="5615271" y="406692"/>
              <a:ext cx="2190970" cy="1232421"/>
            </a:xfrm>
            <a:custGeom>
              <a:avLst/>
              <a:gdLst/>
              <a:ahLst/>
              <a:cxnLst/>
              <a:rect l="l" t="t" r="r" b="b"/>
              <a:pathLst>
                <a:path w="2190970" h="1232421">
                  <a:moveTo>
                    <a:pt x="0" y="0"/>
                  </a:moveTo>
                  <a:lnTo>
                    <a:pt x="2190970" y="0"/>
                  </a:lnTo>
                  <a:lnTo>
                    <a:pt x="2190970" y="1232420"/>
                  </a:lnTo>
                  <a:lnTo>
                    <a:pt x="0" y="1232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1" y="-29210"/>
            <a:ext cx="12312015" cy="69253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700" y="254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 err="1" smtClean="0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Depisteel</a:t>
            </a:r>
            <a:r>
              <a:rPr lang="en-US" sz="3600" b="1" dirty="0" smtClean="0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03200" y="8636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 synergie d'expertises pour l'innovation en santé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911350" y="1479579"/>
            <a:ext cx="2120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 err="1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Équipe</a:t>
            </a:r>
            <a:r>
              <a:rPr lang="en-US" sz="2400" b="1" dirty="0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400" b="1" dirty="0" err="1" smtClean="0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projet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43631" y="2055867"/>
            <a:ext cx="5435600" cy="988875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6D64">
              <a:alpha val="10196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406400" y="226131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9" name="Shape 5"/>
          <p:cNvSpPr/>
          <p:nvPr/>
        </p:nvSpPr>
        <p:spPr>
          <a:xfrm>
            <a:off x="533400" y="241719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1126605" y="2239390"/>
            <a:ext cx="119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Abdou BA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17600" y="2638343"/>
            <a:ext cx="118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Scientist</a:t>
            </a:r>
            <a:endParaRPr lang="en-US" sz="1600" b="1" dirty="0"/>
          </a:p>
        </p:txBody>
      </p:sp>
      <p:sp>
        <p:nvSpPr>
          <p:cNvPr id="12" name="Shape 8"/>
          <p:cNvSpPr/>
          <p:nvPr/>
        </p:nvSpPr>
        <p:spPr>
          <a:xfrm>
            <a:off x="254000" y="3249668"/>
            <a:ext cx="5435600" cy="970286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6D64">
              <a:alpha val="10196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06400" y="346749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4" name="Shape 10"/>
          <p:cNvSpPr/>
          <p:nvPr/>
        </p:nvSpPr>
        <p:spPr>
          <a:xfrm>
            <a:off x="533400" y="360517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1117600" y="3471305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Mouhammadou DIA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117600" y="3860800"/>
            <a:ext cx="199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Scientist</a:t>
            </a:r>
            <a:endParaRPr lang="en-US" sz="1600" b="1" dirty="0"/>
          </a:p>
        </p:txBody>
      </p:sp>
      <p:sp>
        <p:nvSpPr>
          <p:cNvPr id="17" name="Shape 13"/>
          <p:cNvSpPr/>
          <p:nvPr/>
        </p:nvSpPr>
        <p:spPr>
          <a:xfrm>
            <a:off x="254000" y="4419599"/>
            <a:ext cx="5435600" cy="1026591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6D64">
              <a:alpha val="10196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06400" y="465388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9" name="Shape 15"/>
          <p:cNvSpPr/>
          <p:nvPr/>
        </p:nvSpPr>
        <p:spPr>
          <a:xfrm>
            <a:off x="533400" y="478967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0"/>
                </a:moveTo>
                <a:cubicBezTo>
                  <a:pt x="74166" y="0"/>
                  <a:pt x="63500" y="10666"/>
                  <a:pt x="63500" y="23812"/>
                </a:cubicBezTo>
                <a:lnTo>
                  <a:pt x="63500" y="127000"/>
                </a:lnTo>
                <a:cubicBezTo>
                  <a:pt x="63500" y="140146"/>
                  <a:pt x="74166" y="150813"/>
                  <a:pt x="87313" y="150813"/>
                </a:cubicBezTo>
                <a:lnTo>
                  <a:pt x="119063" y="150813"/>
                </a:lnTo>
                <a:cubicBezTo>
                  <a:pt x="132209" y="150813"/>
                  <a:pt x="142875" y="140146"/>
                  <a:pt x="142875" y="127000"/>
                </a:cubicBezTo>
                <a:lnTo>
                  <a:pt x="142875" y="95250"/>
                </a:lnTo>
                <a:lnTo>
                  <a:pt x="158750" y="95250"/>
                </a:lnTo>
                <a:cubicBezTo>
                  <a:pt x="193824" y="95250"/>
                  <a:pt x="222250" y="123676"/>
                  <a:pt x="222250" y="158750"/>
                </a:cubicBezTo>
                <a:cubicBezTo>
                  <a:pt x="222250" y="193824"/>
                  <a:pt x="193824" y="222250"/>
                  <a:pt x="158750" y="222250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238125" y="254000"/>
                </a:lnTo>
                <a:cubicBezTo>
                  <a:pt x="246906" y="254000"/>
                  <a:pt x="254000" y="246906"/>
                  <a:pt x="254000" y="238125"/>
                </a:cubicBezTo>
                <a:cubicBezTo>
                  <a:pt x="254000" y="229344"/>
                  <a:pt x="246906" y="222250"/>
                  <a:pt x="238125" y="222250"/>
                </a:cubicBezTo>
                <a:lnTo>
                  <a:pt x="229741" y="222250"/>
                </a:lnTo>
                <a:cubicBezTo>
                  <a:pt x="244822" y="205383"/>
                  <a:pt x="254000" y="183158"/>
                  <a:pt x="254000" y="158750"/>
                </a:cubicBezTo>
                <a:cubicBezTo>
                  <a:pt x="254000" y="106164"/>
                  <a:pt x="211336" y="63500"/>
                  <a:pt x="158750" y="63500"/>
                </a:cubicBezTo>
                <a:lnTo>
                  <a:pt x="142875" y="63500"/>
                </a:lnTo>
                <a:lnTo>
                  <a:pt x="142875" y="23812"/>
                </a:lnTo>
                <a:cubicBezTo>
                  <a:pt x="142875" y="10666"/>
                  <a:pt x="132209" y="0"/>
                  <a:pt x="119063" y="0"/>
                </a:cubicBezTo>
                <a:lnTo>
                  <a:pt x="87313" y="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46844" y="198438"/>
                </a:lnTo>
                <a:cubicBezTo>
                  <a:pt x="153442" y="198438"/>
                  <a:pt x="158750" y="193129"/>
                  <a:pt x="158750" y="186531"/>
                </a:cubicBezTo>
                <a:cubicBezTo>
                  <a:pt x="158750" y="179933"/>
                  <a:pt x="153442" y="174625"/>
                  <a:pt x="146844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1117600" y="4630133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Amacoumba</a:t>
            </a:r>
            <a:r>
              <a:rPr lang="en-US" sz="16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FALL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04900" y="51054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 err="1" smtClean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Médecin</a:t>
            </a:r>
            <a:r>
              <a:rPr lang="en-US" sz="1400" b="1" dirty="0" smtClean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b="1" dirty="0" err="1" smtClean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cancérologue</a:t>
            </a:r>
            <a:endParaRPr lang="en-US" sz="1600" b="1" dirty="0"/>
          </a:p>
        </p:txBody>
      </p:sp>
      <p:sp>
        <p:nvSpPr>
          <p:cNvPr id="22" name="Shape 18"/>
          <p:cNvSpPr/>
          <p:nvPr/>
        </p:nvSpPr>
        <p:spPr>
          <a:xfrm>
            <a:off x="254000" y="5656724"/>
            <a:ext cx="5435600" cy="985663"/>
          </a:xfrm>
          <a:custGeom>
            <a:avLst/>
            <a:gdLst/>
            <a:ahLst/>
            <a:cxnLst/>
            <a:rect l="l" t="t" r="r" b="b"/>
            <a:pathLst>
              <a:path w="5435600" h="8636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761997"/>
                </a:lnTo>
                <a:cubicBezTo>
                  <a:pt x="5435600" y="818111"/>
                  <a:pt x="5390111" y="863600"/>
                  <a:pt x="5333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A6D64">
              <a:alpha val="10196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06400" y="585345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24" name="Shape 20"/>
          <p:cNvSpPr/>
          <p:nvPr/>
        </p:nvSpPr>
        <p:spPr>
          <a:xfrm>
            <a:off x="565150" y="5980455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74625" y="0"/>
                </a:moveTo>
                <a:cubicBezTo>
                  <a:pt x="183406" y="0"/>
                  <a:pt x="190500" y="7094"/>
                  <a:pt x="190500" y="15875"/>
                </a:cubicBezTo>
                <a:cubicBezTo>
                  <a:pt x="190500" y="44549"/>
                  <a:pt x="178395" y="67866"/>
                  <a:pt x="162024" y="87561"/>
                </a:cubicBezTo>
                <a:cubicBezTo>
                  <a:pt x="150068" y="101898"/>
                  <a:pt x="135334" y="114895"/>
                  <a:pt x="120551" y="127000"/>
                </a:cubicBezTo>
                <a:cubicBezTo>
                  <a:pt x="135334" y="139154"/>
                  <a:pt x="150068" y="152102"/>
                  <a:pt x="162024" y="166439"/>
                </a:cubicBezTo>
                <a:cubicBezTo>
                  <a:pt x="178395" y="186085"/>
                  <a:pt x="190500" y="209451"/>
                  <a:pt x="190500" y="238125"/>
                </a:cubicBezTo>
                <a:cubicBezTo>
                  <a:pt x="190500" y="246906"/>
                  <a:pt x="183406" y="254000"/>
                  <a:pt x="174625" y="254000"/>
                </a:cubicBezTo>
                <a:cubicBezTo>
                  <a:pt x="165844" y="254000"/>
                  <a:pt x="158750" y="246906"/>
                  <a:pt x="158750" y="238125"/>
                </a:cubicBezTo>
                <a:lnTo>
                  <a:pt x="31750" y="238125"/>
                </a:lnTo>
                <a:cubicBezTo>
                  <a:pt x="31750" y="246906"/>
                  <a:pt x="24656" y="254000"/>
                  <a:pt x="15875" y="254000"/>
                </a:cubicBezTo>
                <a:cubicBezTo>
                  <a:pt x="7094" y="254000"/>
                  <a:pt x="0" y="246906"/>
                  <a:pt x="0" y="238125"/>
                </a:cubicBezTo>
                <a:cubicBezTo>
                  <a:pt x="0" y="209451"/>
                  <a:pt x="12105" y="186134"/>
                  <a:pt x="28476" y="166439"/>
                </a:cubicBezTo>
                <a:cubicBezTo>
                  <a:pt x="40432" y="152102"/>
                  <a:pt x="55166" y="139154"/>
                  <a:pt x="69949" y="127000"/>
                </a:cubicBezTo>
                <a:cubicBezTo>
                  <a:pt x="55166" y="114846"/>
                  <a:pt x="40432" y="101898"/>
                  <a:pt x="28476" y="87561"/>
                </a:cubicBezTo>
                <a:cubicBezTo>
                  <a:pt x="12105" y="67866"/>
                  <a:pt x="0" y="44549"/>
                  <a:pt x="0" y="15875"/>
                </a:cubicBez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158750" y="15875"/>
                </a:lnTo>
                <a:cubicBezTo>
                  <a:pt x="158750" y="7094"/>
                  <a:pt x="165844" y="0"/>
                  <a:pt x="174625" y="0"/>
                </a:cubicBezTo>
                <a:close/>
                <a:moveTo>
                  <a:pt x="140643" y="190500"/>
                </a:moveTo>
                <a:lnTo>
                  <a:pt x="49907" y="190500"/>
                </a:lnTo>
                <a:cubicBezTo>
                  <a:pt x="45839" y="195709"/>
                  <a:pt x="42416" y="200968"/>
                  <a:pt x="39688" y="206375"/>
                </a:cubicBezTo>
                <a:lnTo>
                  <a:pt x="150912" y="206375"/>
                </a:lnTo>
                <a:cubicBezTo>
                  <a:pt x="148134" y="200968"/>
                  <a:pt x="144711" y="195709"/>
                  <a:pt x="140692" y="190500"/>
                </a:cubicBezTo>
                <a:close/>
                <a:moveTo>
                  <a:pt x="118070" y="166688"/>
                </a:moveTo>
                <a:cubicBezTo>
                  <a:pt x="110976" y="160238"/>
                  <a:pt x="103287" y="153888"/>
                  <a:pt x="95250" y="147340"/>
                </a:cubicBezTo>
                <a:cubicBezTo>
                  <a:pt x="87213" y="153839"/>
                  <a:pt x="79524" y="160238"/>
                  <a:pt x="72430" y="166688"/>
                </a:cubicBezTo>
                <a:lnTo>
                  <a:pt x="118070" y="166688"/>
                </a:lnTo>
                <a:close/>
                <a:moveTo>
                  <a:pt x="49857" y="63500"/>
                </a:moveTo>
                <a:lnTo>
                  <a:pt x="140593" y="63500"/>
                </a:lnTo>
                <a:cubicBezTo>
                  <a:pt x="144661" y="58291"/>
                  <a:pt x="148084" y="53032"/>
                  <a:pt x="150813" y="47625"/>
                </a:cubicBezTo>
                <a:lnTo>
                  <a:pt x="39638" y="47625"/>
                </a:lnTo>
                <a:cubicBezTo>
                  <a:pt x="42416" y="53032"/>
                  <a:pt x="45839" y="58291"/>
                  <a:pt x="49857" y="63500"/>
                </a:cubicBezTo>
                <a:close/>
                <a:moveTo>
                  <a:pt x="72430" y="87313"/>
                </a:moveTo>
                <a:cubicBezTo>
                  <a:pt x="79524" y="93762"/>
                  <a:pt x="87213" y="100112"/>
                  <a:pt x="95250" y="106660"/>
                </a:cubicBezTo>
                <a:cubicBezTo>
                  <a:pt x="103287" y="100161"/>
                  <a:pt x="110976" y="93762"/>
                  <a:pt x="118070" y="87313"/>
                </a:cubicBezTo>
                <a:lnTo>
                  <a:pt x="72430" y="873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1104900" y="5780997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Etienne Moussa SARR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117600" y="6210069"/>
            <a:ext cx="227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A8B8B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Bioinformaticien</a:t>
            </a:r>
            <a:endParaRPr lang="en-US" sz="1600" b="1" dirty="0"/>
          </a:p>
        </p:txBody>
      </p:sp>
      <p:sp>
        <p:nvSpPr>
          <p:cNvPr id="27" name="Shape 23"/>
          <p:cNvSpPr/>
          <p:nvPr/>
        </p:nvSpPr>
        <p:spPr>
          <a:xfrm>
            <a:off x="7294795" y="2164040"/>
            <a:ext cx="12700" cy="4102100"/>
          </a:xfrm>
          <a:custGeom>
            <a:avLst/>
            <a:gdLst/>
            <a:ahLst/>
            <a:cxnLst/>
            <a:rect l="l" t="t" r="r" b="b"/>
            <a:pathLst>
              <a:path w="12700" h="4102100">
                <a:moveTo>
                  <a:pt x="0" y="0"/>
                </a:moveTo>
                <a:lnTo>
                  <a:pt x="12700" y="0"/>
                </a:lnTo>
                <a:lnTo>
                  <a:pt x="12700" y="4102100"/>
                </a:lnTo>
                <a:lnTo>
                  <a:pt x="0" y="4102100"/>
                </a:lnTo>
                <a:lnTo>
                  <a:pt x="0" y="0"/>
                </a:ln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28" name="Text 24"/>
          <p:cNvSpPr/>
          <p:nvPr/>
        </p:nvSpPr>
        <p:spPr>
          <a:xfrm>
            <a:off x="9229300" y="1929942"/>
            <a:ext cx="1333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5A6D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Mentors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7734062" y="3071770"/>
            <a:ext cx="4254738" cy="1066800"/>
          </a:xfrm>
          <a:custGeom>
            <a:avLst/>
            <a:gdLst/>
            <a:ahLst/>
            <a:cxnLst/>
            <a:rect l="l" t="t" r="r" b="b"/>
            <a:pathLst>
              <a:path w="5435600" h="10668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965198"/>
                </a:lnTo>
                <a:cubicBezTo>
                  <a:pt x="5435600" y="1021311"/>
                  <a:pt x="5390111" y="1066800"/>
                  <a:pt x="53339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B8B2">
              <a:alpha val="10196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8479989" y="33169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31" name="Shape 27"/>
          <p:cNvSpPr/>
          <p:nvPr/>
        </p:nvSpPr>
        <p:spPr>
          <a:xfrm>
            <a:off x="8651439" y="343527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4763"/>
                </a:move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lose/>
                <a:moveTo>
                  <a:pt x="169069" y="190976"/>
                </a:moveTo>
                <a:cubicBezTo>
                  <a:pt x="165854" y="190679"/>
                  <a:pt x="162520" y="190500"/>
                  <a:pt x="159187" y="190500"/>
                </a:cubicBezTo>
                <a:lnTo>
                  <a:pt x="107454" y="190500"/>
                </a:lnTo>
                <a:cubicBezTo>
                  <a:pt x="104120" y="190500"/>
                  <a:pt x="100846" y="190679"/>
                  <a:pt x="97572" y="190976"/>
                </a:cubicBezTo>
                <a:lnTo>
                  <a:pt x="97572" y="231160"/>
                </a:lnTo>
                <a:cubicBezTo>
                  <a:pt x="107394" y="235684"/>
                  <a:pt x="114240" y="245626"/>
                  <a:pt x="114240" y="257115"/>
                </a:cubicBezTo>
                <a:cubicBezTo>
                  <a:pt x="114240" y="272891"/>
                  <a:pt x="101441" y="285690"/>
                  <a:pt x="85665" y="285690"/>
                </a:cubicBezTo>
                <a:cubicBezTo>
                  <a:pt x="69890" y="285690"/>
                  <a:pt x="57090" y="272891"/>
                  <a:pt x="57090" y="257115"/>
                </a:cubicBezTo>
                <a:cubicBezTo>
                  <a:pt x="57090" y="245566"/>
                  <a:pt x="63937" y="235625"/>
                  <a:pt x="73759" y="231160"/>
                </a:cubicBezTo>
                <a:lnTo>
                  <a:pt x="73759" y="196394"/>
                </a:lnTo>
                <a:cubicBezTo>
                  <a:pt x="36314" y="210145"/>
                  <a:pt x="9525" y="246221"/>
                  <a:pt x="9525" y="288488"/>
                </a:cubicBezTo>
                <a:cubicBezTo>
                  <a:pt x="9525" y="297478"/>
                  <a:pt x="16847" y="304800"/>
                  <a:pt x="25837" y="304800"/>
                </a:cubicBezTo>
                <a:lnTo>
                  <a:pt x="240804" y="304800"/>
                </a:lnTo>
                <a:cubicBezTo>
                  <a:pt x="249793" y="304800"/>
                  <a:pt x="257115" y="297478"/>
                  <a:pt x="257115" y="288488"/>
                </a:cubicBezTo>
                <a:cubicBezTo>
                  <a:pt x="257115" y="246221"/>
                  <a:pt x="230326" y="210205"/>
                  <a:pt x="192822" y="196453"/>
                </a:cubicBezTo>
                <a:lnTo>
                  <a:pt x="192822" y="218718"/>
                </a:lnTo>
                <a:cubicBezTo>
                  <a:pt x="206692" y="223599"/>
                  <a:pt x="216634" y="236875"/>
                  <a:pt x="216634" y="252413"/>
                </a:cubicBezTo>
                <a:lnTo>
                  <a:pt x="216634" y="271463"/>
                </a:lnTo>
                <a:cubicBezTo>
                  <a:pt x="216634" y="278011"/>
                  <a:pt x="211276" y="283369"/>
                  <a:pt x="204728" y="283369"/>
                </a:cubicBezTo>
                <a:cubicBezTo>
                  <a:pt x="198180" y="283369"/>
                  <a:pt x="192822" y="278011"/>
                  <a:pt x="192822" y="271463"/>
                </a:cubicBezTo>
                <a:lnTo>
                  <a:pt x="192822" y="252413"/>
                </a:lnTo>
                <a:cubicBezTo>
                  <a:pt x="192822" y="245864"/>
                  <a:pt x="187464" y="240506"/>
                  <a:pt x="180915" y="240506"/>
                </a:cubicBezTo>
                <a:cubicBezTo>
                  <a:pt x="174367" y="240506"/>
                  <a:pt x="169009" y="245864"/>
                  <a:pt x="169009" y="252413"/>
                </a:cubicBezTo>
                <a:lnTo>
                  <a:pt x="169009" y="271463"/>
                </a:lnTo>
                <a:cubicBezTo>
                  <a:pt x="169009" y="278011"/>
                  <a:pt x="163651" y="283369"/>
                  <a:pt x="157103" y="283369"/>
                </a:cubicBezTo>
                <a:cubicBezTo>
                  <a:pt x="150555" y="283369"/>
                  <a:pt x="145197" y="278011"/>
                  <a:pt x="145197" y="271463"/>
                </a:cubicBezTo>
                <a:lnTo>
                  <a:pt x="145197" y="252413"/>
                </a:lnTo>
                <a:cubicBezTo>
                  <a:pt x="145197" y="236875"/>
                  <a:pt x="155138" y="223659"/>
                  <a:pt x="169009" y="218718"/>
                </a:cubicBezTo>
                <a:lnTo>
                  <a:pt x="169009" y="1909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9337358" y="3209565"/>
            <a:ext cx="194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Dr. </a:t>
            </a: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Bakary CISSE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9337358" y="3670693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998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Mentor Santé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7707045" y="4445000"/>
            <a:ext cx="4281756" cy="1066800"/>
          </a:xfrm>
          <a:custGeom>
            <a:avLst/>
            <a:gdLst/>
            <a:ahLst/>
            <a:cxnLst/>
            <a:rect l="l" t="t" r="r" b="b"/>
            <a:pathLst>
              <a:path w="5435600" h="10668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965198"/>
                </a:lnTo>
                <a:cubicBezTo>
                  <a:pt x="5435600" y="1021311"/>
                  <a:pt x="5390111" y="1066800"/>
                  <a:pt x="53339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B8B2">
              <a:alpha val="10196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8489434" y="467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36" name="Shape 32"/>
          <p:cNvSpPr/>
          <p:nvPr/>
        </p:nvSpPr>
        <p:spPr>
          <a:xfrm>
            <a:off x="8615892" y="4827949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3"/>
          <p:cNvSpPr/>
          <p:nvPr/>
        </p:nvSpPr>
        <p:spPr>
          <a:xfrm>
            <a:off x="9337358" y="4576123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Abdoulaye Samba Diallo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9337358" y="5036793"/>
            <a:ext cx="276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E998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Mentor Tech / IA</a:t>
            </a:r>
            <a:endParaRPr lang="en-US" sz="1600" dirty="0"/>
          </a:p>
        </p:txBody>
      </p:sp>
      <p:pic>
        <p:nvPicPr>
          <p:cNvPr id="50" name="Image 4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06" y="2060327"/>
            <a:ext cx="1330301" cy="12272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997" y="3186260"/>
            <a:ext cx="1429000" cy="13018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605" y="5673383"/>
            <a:ext cx="1364574" cy="11627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30942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00000">
            <a:off x="5532120" y="2159869"/>
            <a:ext cx="293611" cy="293736"/>
          </a:xfrm>
          <a:prstGeom prst="triangle">
            <a:avLst>
              <a:gd name="adj" fmla="val 50000"/>
            </a:avLst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 rot="5400000">
            <a:off x="5532120" y="2159869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5400000">
            <a:off x="5645047" y="2272844"/>
            <a:ext cx="293611" cy="293736"/>
          </a:xfrm>
          <a:prstGeom prst="triangle">
            <a:avLst>
              <a:gd name="adj" fmla="val 50000"/>
            </a:avLst>
          </a:prstGeom>
          <a:solidFill>
            <a:srgbClr val="5E927D"/>
          </a:solidFill>
          <a:ln/>
        </p:spPr>
      </p:sp>
      <p:sp>
        <p:nvSpPr>
          <p:cNvPr id="6" name="Text 3"/>
          <p:cNvSpPr/>
          <p:nvPr/>
        </p:nvSpPr>
        <p:spPr>
          <a:xfrm rot="5400000">
            <a:off x="5645047" y="2272844"/>
            <a:ext cx="293611" cy="29373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5532120" y="3008189"/>
            <a:ext cx="293611" cy="293331"/>
          </a:xfrm>
          <a:prstGeom prst="triangle">
            <a:avLst>
              <a:gd name="adj" fmla="val 50000"/>
            </a:avLst>
          </a:prstGeom>
          <a:solidFill>
            <a:srgbClr val="E0E9C9"/>
          </a:solidFill>
          <a:ln/>
        </p:spPr>
      </p:sp>
      <p:sp>
        <p:nvSpPr>
          <p:cNvPr id="8" name="Text 5"/>
          <p:cNvSpPr/>
          <p:nvPr/>
        </p:nvSpPr>
        <p:spPr>
          <a:xfrm rot="5400000">
            <a:off x="5532120" y="300818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645047" y="3121009"/>
            <a:ext cx="293611" cy="293331"/>
          </a:xfrm>
          <a:prstGeom prst="triangle">
            <a:avLst>
              <a:gd name="adj" fmla="val 50000"/>
            </a:avLst>
          </a:prstGeom>
          <a:solidFill>
            <a:srgbClr val="5E927D"/>
          </a:solidFill>
          <a:ln/>
        </p:spPr>
      </p:sp>
      <p:sp>
        <p:nvSpPr>
          <p:cNvPr id="10" name="Text 7"/>
          <p:cNvSpPr/>
          <p:nvPr/>
        </p:nvSpPr>
        <p:spPr>
          <a:xfrm rot="5400000">
            <a:off x="5645047" y="312100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5532120" y="3855914"/>
            <a:ext cx="293611" cy="293331"/>
          </a:xfrm>
          <a:prstGeom prst="triangle">
            <a:avLst>
              <a:gd name="adj" fmla="val 50000"/>
            </a:avLst>
          </a:prstGeom>
          <a:solidFill>
            <a:srgbClr val="E0E9C9"/>
          </a:solidFill>
          <a:ln/>
        </p:spPr>
      </p:sp>
      <p:sp>
        <p:nvSpPr>
          <p:cNvPr id="12" name="Text 9"/>
          <p:cNvSpPr/>
          <p:nvPr/>
        </p:nvSpPr>
        <p:spPr>
          <a:xfrm rot="5400000">
            <a:off x="5532120" y="385591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645047" y="3968734"/>
            <a:ext cx="293611" cy="293331"/>
          </a:xfrm>
          <a:prstGeom prst="triangle">
            <a:avLst>
              <a:gd name="adj" fmla="val 50000"/>
            </a:avLst>
          </a:prstGeom>
          <a:solidFill>
            <a:srgbClr val="5E927D"/>
          </a:solidFill>
          <a:ln/>
        </p:spPr>
      </p:sp>
      <p:sp>
        <p:nvSpPr>
          <p:cNvPr id="14" name="Text 11"/>
          <p:cNvSpPr/>
          <p:nvPr/>
        </p:nvSpPr>
        <p:spPr>
          <a:xfrm rot="5400000">
            <a:off x="5645047" y="396873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532120" y="4703639"/>
            <a:ext cx="293611" cy="293331"/>
          </a:xfrm>
          <a:prstGeom prst="triangle">
            <a:avLst>
              <a:gd name="adj" fmla="val 50000"/>
            </a:avLst>
          </a:prstGeom>
          <a:solidFill>
            <a:srgbClr val="E0E9C9"/>
          </a:solidFill>
          <a:ln/>
        </p:spPr>
      </p:sp>
      <p:sp>
        <p:nvSpPr>
          <p:cNvPr id="16" name="Text 13"/>
          <p:cNvSpPr/>
          <p:nvPr/>
        </p:nvSpPr>
        <p:spPr>
          <a:xfrm rot="5400000">
            <a:off x="5532120" y="470363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645047" y="4816459"/>
            <a:ext cx="293611" cy="293331"/>
          </a:xfrm>
          <a:prstGeom prst="triangle">
            <a:avLst>
              <a:gd name="adj" fmla="val 50000"/>
            </a:avLst>
          </a:prstGeom>
          <a:solidFill>
            <a:srgbClr val="5E927D"/>
          </a:solidFill>
          <a:ln/>
        </p:spPr>
      </p:sp>
      <p:sp>
        <p:nvSpPr>
          <p:cNvPr id="18" name="Text 15"/>
          <p:cNvSpPr/>
          <p:nvPr/>
        </p:nvSpPr>
        <p:spPr>
          <a:xfrm rot="5400000">
            <a:off x="5645047" y="4816459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5532120" y="5551364"/>
            <a:ext cx="293611" cy="293331"/>
          </a:xfrm>
          <a:prstGeom prst="triangle">
            <a:avLst>
              <a:gd name="adj" fmla="val 50000"/>
            </a:avLst>
          </a:prstGeom>
          <a:solidFill>
            <a:srgbClr val="E0E9C9"/>
          </a:solidFill>
          <a:ln/>
        </p:spPr>
      </p:sp>
      <p:sp>
        <p:nvSpPr>
          <p:cNvPr id="20" name="Text 17"/>
          <p:cNvSpPr/>
          <p:nvPr/>
        </p:nvSpPr>
        <p:spPr>
          <a:xfrm rot="5400000">
            <a:off x="5532120" y="555136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5400000">
            <a:off x="5645047" y="5664184"/>
            <a:ext cx="293611" cy="293331"/>
          </a:xfrm>
          <a:prstGeom prst="triangle">
            <a:avLst>
              <a:gd name="adj" fmla="val 50000"/>
            </a:avLst>
          </a:prstGeom>
          <a:solidFill>
            <a:srgbClr val="5E927D"/>
          </a:solidFill>
          <a:ln/>
        </p:spPr>
      </p:sp>
      <p:sp>
        <p:nvSpPr>
          <p:cNvPr id="22" name="Text 19"/>
          <p:cNvSpPr/>
          <p:nvPr/>
        </p:nvSpPr>
        <p:spPr>
          <a:xfrm rot="5400000">
            <a:off x="5645047" y="5664184"/>
            <a:ext cx="293611" cy="293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07025" y="810260"/>
            <a:ext cx="3513455" cy="1021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800" b="1" dirty="0" smtClean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SOMMAIRE</a:t>
            </a: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18837" y="213106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62522" y="2158739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Problème &amp; Contexte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018837" y="297942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662522" y="300706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 &amp; Valeur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18837" y="3827145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662522" y="385478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&amp; Utilisateurs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018837" y="4674870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662522" y="4702511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Déploiement &amp; Impact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018837" y="5522595"/>
            <a:ext cx="686598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62522" y="5550236"/>
            <a:ext cx="4469663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Produit &amp; Financement</a:t>
            </a:r>
            <a:endParaRPr lang="en-US" sz="1600" dirty="0"/>
          </a:p>
        </p:txBody>
      </p:sp>
      <p:pic>
        <p:nvPicPr>
          <p:cNvPr id="1026" name="Picture 2" descr="Au sommaire de la Lettre du Cadre numéro 543 – décembre 20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798242" cy="689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23" y="859423"/>
            <a:ext cx="2852404" cy="39335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54600" y="3223895"/>
            <a:ext cx="678751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Problème &amp; Contexte</a:t>
            </a:r>
            <a:endParaRPr lang="en-US" sz="1600" dirty="0"/>
          </a:p>
        </p:txBody>
      </p:sp>
      <p:pic>
        <p:nvPicPr>
          <p:cNvPr id="2" name="Image 0" descr="https://kimi-img.moonshot.cn/pub/slides/slides_tmpl/image/25-08-27-20:07:56-d2nfa718bjvh7rlj0gng.png"/>
          <p:cNvPicPr>
            <a:picLocks noChangeAspect="1"/>
          </p:cNvPicPr>
          <p:nvPr/>
        </p:nvPicPr>
        <p:blipFill>
          <a:blip r:embed="rId4">
            <a:alphaModFix amt="12000"/>
          </a:blip>
          <a:srcRect r="25396" b="24777"/>
          <a:stretch/>
        </p:blipFill>
        <p:spPr>
          <a:xfrm>
            <a:off x="0" y="-96"/>
            <a:ext cx="12188825" cy="68573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08" y="-234833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1150" y="152629"/>
            <a:ext cx="5664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 cancer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1168629"/>
            <a:ext cx="5537200" cy="3200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dirty="0"/>
              <a:t>Le cancer est une maladie caractérisée par une prolifération cellulaire anarchique. Les cellules anormales se multiplient de façon excessive, forment des tumeurs et peuvent se propager dans d'autres organes (métastases). </a:t>
            </a:r>
            <a:endParaRPr lang="fr-FR" sz="1600" dirty="0"/>
          </a:p>
          <a:p>
            <a:endParaRPr lang="fr-FR" sz="1600" dirty="0"/>
          </a:p>
          <a:p>
            <a:r>
              <a:rPr lang="fr-FR" sz="1600" b="1" dirty="0">
                <a:solidFill>
                  <a:srgbClr val="FF0000"/>
                </a:solidFill>
              </a:rPr>
              <a:t>Contexte et Situation au </a:t>
            </a:r>
            <a:r>
              <a:rPr lang="fr-FR" sz="1600" b="1" dirty="0" smtClean="0">
                <a:solidFill>
                  <a:srgbClr val="FF0000"/>
                </a:solidFill>
              </a:rPr>
              <a:t>Sénégal</a:t>
            </a:r>
          </a:p>
          <a:p>
            <a:endParaRPr lang="fr-FR" sz="1600" b="1" dirty="0"/>
          </a:p>
          <a:p>
            <a:r>
              <a:rPr lang="fr-FR" sz="1600" dirty="0"/>
              <a:t>Au Sénégal, le cancer est devenu un problème majeur de santé publique. Les spécialistes estiment à près de </a:t>
            </a:r>
            <a:r>
              <a:rPr lang="fr-FR" sz="1600" b="1" dirty="0">
                <a:solidFill>
                  <a:srgbClr val="FF0000"/>
                </a:solidFill>
              </a:rPr>
              <a:t>12 000 le nombre de nouveaux cas diagnostiqués chaque année</a:t>
            </a:r>
            <a:r>
              <a:rPr lang="fr-FR" sz="1600" dirty="0"/>
              <a:t>, causant environ </a:t>
            </a:r>
            <a:r>
              <a:rPr lang="fr-FR" sz="1600" b="1" dirty="0">
                <a:solidFill>
                  <a:srgbClr val="FF0000"/>
                </a:solidFill>
              </a:rPr>
              <a:t>8 000 décès</a:t>
            </a:r>
            <a:r>
              <a:rPr lang="fr-FR" sz="1600" dirty="0">
                <a:solidFill>
                  <a:srgbClr val="FF0000"/>
                </a:solidFill>
              </a:rPr>
              <a:t>. </a:t>
            </a:r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4673600"/>
            <a:ext cx="0" cy="558800"/>
          </a:xfrm>
          <a:prstGeom prst="line">
            <a:avLst/>
          </a:prstGeom>
          <a:noFill/>
          <a:ln w="50800">
            <a:solidFill>
              <a:srgbClr val="6E9986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08000" y="467360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"La santé n'est pas un coût, mais un investissement."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08000" y="4978400"/>
            <a:ext cx="527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Nicola Magrini, OMS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0" y="2057400"/>
            <a:ext cx="2819400" cy="1270000"/>
          </a:xfrm>
          <a:custGeom>
            <a:avLst/>
            <a:gdLst/>
            <a:ahLst/>
            <a:cxnLst/>
            <a:rect l="l" t="t" r="r" b="b"/>
            <a:pathLst>
              <a:path w="2819400" h="1270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1168400"/>
                </a:lnTo>
                <a:cubicBezTo>
                  <a:pt x="2819400" y="1224475"/>
                  <a:pt x="2773875" y="1270000"/>
                  <a:pt x="2717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6D64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056570" y="2260600"/>
            <a:ext cx="901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14993" y="28702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Cause de mortalité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18600" y="2057400"/>
            <a:ext cx="2819400" cy="1270000"/>
          </a:xfrm>
          <a:custGeom>
            <a:avLst/>
            <a:gdLst/>
            <a:ahLst/>
            <a:cxnLst/>
            <a:rect l="l" t="t" r="r" b="b"/>
            <a:pathLst>
              <a:path w="2819400" h="1270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1168400"/>
                </a:lnTo>
                <a:cubicBezTo>
                  <a:pt x="2819400" y="1224475"/>
                  <a:pt x="2773875" y="1270000"/>
                  <a:pt x="2717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12" name="Text 9"/>
          <p:cNvSpPr/>
          <p:nvPr/>
        </p:nvSpPr>
        <p:spPr>
          <a:xfrm>
            <a:off x="9596306" y="2260600"/>
            <a:ext cx="1866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15-65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959975" y="2870200"/>
            <a:ext cx="113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Âge clé (ans)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6000" y="3530600"/>
            <a:ext cx="2819400" cy="1270000"/>
          </a:xfrm>
          <a:custGeom>
            <a:avLst/>
            <a:gdLst/>
            <a:ahLst/>
            <a:cxnLst/>
            <a:rect l="l" t="t" r="r" b="b"/>
            <a:pathLst>
              <a:path w="2819400" h="1270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1168400"/>
                </a:lnTo>
                <a:cubicBezTo>
                  <a:pt x="2819400" y="1224475"/>
                  <a:pt x="2773875" y="1270000"/>
                  <a:pt x="2717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15" name="Text 12"/>
          <p:cNvSpPr/>
          <p:nvPr/>
        </p:nvSpPr>
        <p:spPr>
          <a:xfrm>
            <a:off x="6565239" y="3733800"/>
            <a:ext cx="187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397" y="4343400"/>
            <a:ext cx="129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Dépistage rural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118600" y="3530600"/>
            <a:ext cx="2819400" cy="1270000"/>
          </a:xfrm>
          <a:custGeom>
            <a:avLst/>
            <a:gdLst/>
            <a:ahLst/>
            <a:cxnLst/>
            <a:rect l="l" t="t" r="r" b="b"/>
            <a:pathLst>
              <a:path w="2819400" h="1270000">
                <a:moveTo>
                  <a:pt x="101600" y="0"/>
                </a:moveTo>
                <a:lnTo>
                  <a:pt x="2717800" y="0"/>
                </a:lnTo>
                <a:cubicBezTo>
                  <a:pt x="2773875" y="0"/>
                  <a:pt x="2819400" y="45525"/>
                  <a:pt x="2819400" y="101600"/>
                </a:cubicBezTo>
                <a:lnTo>
                  <a:pt x="2819400" y="1168400"/>
                </a:lnTo>
                <a:cubicBezTo>
                  <a:pt x="2819400" y="1224475"/>
                  <a:pt x="2773875" y="1270000"/>
                  <a:pt x="2717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6D64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774370" y="3733800"/>
            <a:ext cx="1511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+5M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797124" y="4343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Femmes à risque</a:t>
            </a: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11601239" y="3530600"/>
            <a:ext cx="3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21" name="ZoneTexte 20"/>
          <p:cNvSpPr txBox="1"/>
          <p:nvPr/>
        </p:nvSpPr>
        <p:spPr>
          <a:xfrm>
            <a:off x="508000" y="6044971"/>
            <a:ext cx="328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1 : (OMS, 2020)</a:t>
            </a:r>
          </a:p>
          <a:p>
            <a:r>
              <a:rPr lang="en-US" sz="1600" dirty="0" smtClean="0"/>
              <a:t>2 : Africa Youth </a:t>
            </a:r>
            <a:r>
              <a:rPr lang="en-US" sz="1600" dirty="0" err="1" smtClean="0"/>
              <a:t>Employement</a:t>
            </a:r>
            <a:r>
              <a:rPr lang="en-US" sz="1600" dirty="0" smtClean="0"/>
              <a:t> Clock</a:t>
            </a:r>
            <a:endParaRPr lang="en-US" sz="1600" dirty="0"/>
          </a:p>
        </p:txBody>
      </p:sp>
      <p:sp>
        <p:nvSpPr>
          <p:cNvPr id="22" name="ZoneTexte 21"/>
          <p:cNvSpPr txBox="1"/>
          <p:nvPr/>
        </p:nvSpPr>
        <p:spPr>
          <a:xfrm>
            <a:off x="8652568" y="2057400"/>
            <a:ext cx="3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23" name="ZoneTexte 22"/>
          <p:cNvSpPr txBox="1"/>
          <p:nvPr/>
        </p:nvSpPr>
        <p:spPr>
          <a:xfrm>
            <a:off x="8665591" y="3516868"/>
            <a:ext cx="336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000" y="2387600"/>
            <a:ext cx="3695700" cy="2946400"/>
          </a:xfrm>
          <a:custGeom>
            <a:avLst/>
            <a:gdLst/>
            <a:ahLst/>
            <a:cxnLst/>
            <a:rect l="l" t="t" r="r" b="b"/>
            <a:pathLst>
              <a:path w="3695700" h="2946400">
                <a:moveTo>
                  <a:pt x="101592" y="0"/>
                </a:moveTo>
                <a:lnTo>
                  <a:pt x="3594108" y="0"/>
                </a:lnTo>
                <a:cubicBezTo>
                  <a:pt x="3650216" y="0"/>
                  <a:pt x="3695700" y="45484"/>
                  <a:pt x="3695700" y="101592"/>
                </a:cubicBezTo>
                <a:lnTo>
                  <a:pt x="3695700" y="2844808"/>
                </a:lnTo>
                <a:cubicBezTo>
                  <a:pt x="3695700" y="2900916"/>
                  <a:pt x="3650216" y="2946400"/>
                  <a:pt x="3594108" y="2946400"/>
                </a:cubicBezTo>
                <a:lnTo>
                  <a:pt x="101592" y="2946400"/>
                </a:lnTo>
                <a:cubicBezTo>
                  <a:pt x="45484" y="2946400"/>
                  <a:pt x="0" y="2900916"/>
                  <a:pt x="0" y="28448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99179" y="2667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Text 3"/>
          <p:cNvSpPr/>
          <p:nvPr/>
        </p:nvSpPr>
        <p:spPr>
          <a:xfrm>
            <a:off x="393700" y="335280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Données</a:t>
            </a: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000" b="1" dirty="0" err="1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fragmentées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3810000"/>
            <a:ext cx="33782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fragmentation des données empêche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vision globale du patient et un suivi efficace.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49341" y="2432570"/>
            <a:ext cx="3644900" cy="2895600"/>
          </a:xfrm>
          <a:custGeom>
            <a:avLst/>
            <a:gdLst/>
            <a:ahLst/>
            <a:cxnLst/>
            <a:rect l="l" t="t" r="r" b="b"/>
            <a:pathLst>
              <a:path w="3644900" h="2895600">
                <a:moveTo>
                  <a:pt x="101607" y="0"/>
                </a:moveTo>
                <a:lnTo>
                  <a:pt x="3543293" y="0"/>
                </a:lnTo>
                <a:cubicBezTo>
                  <a:pt x="3599409" y="0"/>
                  <a:pt x="3644900" y="45491"/>
                  <a:pt x="3644900" y="101607"/>
                </a:cubicBezTo>
                <a:lnTo>
                  <a:pt x="3644900" y="2793993"/>
                </a:lnTo>
                <a:cubicBezTo>
                  <a:pt x="3644900" y="2850109"/>
                  <a:pt x="3599409" y="2895600"/>
                  <a:pt x="3543293" y="2895600"/>
                </a:cubicBezTo>
                <a:lnTo>
                  <a:pt x="101607" y="2895600"/>
                </a:lnTo>
                <a:cubicBezTo>
                  <a:pt x="45491" y="2895600"/>
                  <a:pt x="0" y="2850109"/>
                  <a:pt x="0" y="27939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A6D64">
              <a:alpha val="80000"/>
            </a:srgbClr>
          </a:solidFill>
          <a:ln w="25400">
            <a:solidFill>
              <a:srgbClr val="6E99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0250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7175" y="142875"/>
                </a:moveTo>
                <a:cubicBezTo>
                  <a:pt x="257175" y="135017"/>
                  <a:pt x="263604" y="128588"/>
                  <a:pt x="271463" y="128588"/>
                </a:cubicBezTo>
                <a:lnTo>
                  <a:pt x="300038" y="128588"/>
                </a:lnTo>
                <a:cubicBezTo>
                  <a:pt x="307896" y="128588"/>
                  <a:pt x="314325" y="135017"/>
                  <a:pt x="314325" y="142875"/>
                </a:cubicBezTo>
                <a:lnTo>
                  <a:pt x="314325" y="178594"/>
                </a:lnTo>
                <a:lnTo>
                  <a:pt x="350044" y="178594"/>
                </a:lnTo>
                <a:cubicBezTo>
                  <a:pt x="357902" y="178594"/>
                  <a:pt x="364331" y="185023"/>
                  <a:pt x="364331" y="192881"/>
                </a:cubicBezTo>
                <a:lnTo>
                  <a:pt x="364331" y="221456"/>
                </a:lnTo>
                <a:cubicBezTo>
                  <a:pt x="364331" y="229314"/>
                  <a:pt x="357902" y="235744"/>
                  <a:pt x="350044" y="235744"/>
                </a:cubicBezTo>
                <a:lnTo>
                  <a:pt x="314325" y="235744"/>
                </a:lnTo>
                <a:lnTo>
                  <a:pt x="314325" y="271463"/>
                </a:lnTo>
                <a:cubicBezTo>
                  <a:pt x="314325" y="279321"/>
                  <a:pt x="307896" y="285750"/>
                  <a:pt x="300038" y="285750"/>
                </a:cubicBezTo>
                <a:lnTo>
                  <a:pt x="271463" y="285750"/>
                </a:lnTo>
                <a:cubicBezTo>
                  <a:pt x="263604" y="285750"/>
                  <a:pt x="257175" y="279321"/>
                  <a:pt x="257175" y="271463"/>
                </a:cubicBezTo>
                <a:lnTo>
                  <a:pt x="257175" y="235744"/>
                </a:lnTo>
                <a:lnTo>
                  <a:pt x="221456" y="235744"/>
                </a:lnTo>
                <a:cubicBezTo>
                  <a:pt x="213598" y="235744"/>
                  <a:pt x="207169" y="229314"/>
                  <a:pt x="207169" y="221456"/>
                </a:cubicBezTo>
                <a:lnTo>
                  <a:pt x="207169" y="192881"/>
                </a:lnTo>
                <a:cubicBezTo>
                  <a:pt x="207169" y="185023"/>
                  <a:pt x="213598" y="178594"/>
                  <a:pt x="221456" y="178594"/>
                </a:cubicBezTo>
                <a:lnTo>
                  <a:pt x="257175" y="178594"/>
                </a:lnTo>
                <a:lnTo>
                  <a:pt x="257175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414441" y="33782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Solution </a:t>
            </a:r>
            <a:r>
              <a:rPr lang="en-US" sz="2000" b="1" dirty="0" err="1" smtClean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numérique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33491" y="3835400"/>
            <a:ext cx="3327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 smtClean="0">
                <a:solidFill>
                  <a:schemeClr val="tx1">
                    <a:alpha val="9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r>
              <a:rPr lang="en-US" sz="1400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Centraliser</a:t>
            </a:r>
            <a:r>
              <a:rPr lang="en-US" sz="14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les </a:t>
            </a: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données, </a:t>
            </a:r>
            <a:endParaRPr lang="en-US" sz="1400" dirty="0" smtClean="0">
              <a:solidFill>
                <a:srgbClr val="FFFFFF">
                  <a:alpha val="9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400" dirty="0" smtClean="0">
                <a:solidFill>
                  <a:schemeClr val="tx1">
                    <a:alpha val="9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r>
              <a:rPr lang="en-US" sz="1400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personnaliser</a:t>
            </a:r>
            <a:r>
              <a:rPr lang="en-US" sz="14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prise en charge </a:t>
            </a:r>
            <a:endParaRPr lang="en-US" sz="1400" dirty="0" smtClean="0">
              <a:solidFill>
                <a:srgbClr val="FFFFFF">
                  <a:alpha val="90000"/>
                </a:srgb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1400" dirty="0" smtClean="0">
                <a:solidFill>
                  <a:schemeClr val="tx1">
                    <a:alpha val="9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r>
              <a:rPr lang="en-US" sz="1400" dirty="0" err="1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renforcer</a:t>
            </a:r>
            <a:r>
              <a:rPr lang="en-US" sz="1400" dirty="0" smtClean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surveillance épidémiologique en temps réel.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47592" y="2387600"/>
            <a:ext cx="3695700" cy="2946400"/>
          </a:xfrm>
          <a:custGeom>
            <a:avLst/>
            <a:gdLst/>
            <a:ahLst/>
            <a:cxnLst/>
            <a:rect l="l" t="t" r="r" b="b"/>
            <a:pathLst>
              <a:path w="3695700" h="2946400">
                <a:moveTo>
                  <a:pt x="101592" y="0"/>
                </a:moveTo>
                <a:lnTo>
                  <a:pt x="3594108" y="0"/>
                </a:lnTo>
                <a:cubicBezTo>
                  <a:pt x="3650216" y="0"/>
                  <a:pt x="3695700" y="45484"/>
                  <a:pt x="3695700" y="101592"/>
                </a:cubicBezTo>
                <a:lnTo>
                  <a:pt x="3695700" y="2844808"/>
                </a:lnTo>
                <a:cubicBezTo>
                  <a:pt x="3695700" y="2900916"/>
                  <a:pt x="3650216" y="2946400"/>
                  <a:pt x="3594108" y="2946400"/>
                </a:cubicBezTo>
                <a:lnTo>
                  <a:pt x="101592" y="2946400"/>
                </a:lnTo>
                <a:cubicBezTo>
                  <a:pt x="45484" y="2946400"/>
                  <a:pt x="0" y="2900916"/>
                  <a:pt x="0" y="28448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864196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4" name="Text 11"/>
          <p:cNvSpPr/>
          <p:nvPr/>
        </p:nvSpPr>
        <p:spPr>
          <a:xfrm>
            <a:off x="8387292" y="335280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Impact </a:t>
            </a:r>
            <a:r>
              <a:rPr lang="en-US" sz="2000" b="1" dirty="0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sanitaire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06342" y="3810000"/>
            <a:ext cx="33782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Malgré la préventibilité du cancer, la mortalité reste élevée faute de moyens efficaces.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La méthode QQOQCCP : un moyen efficace de résoudre les problèmes au travail  : Jobillico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238" y="1183309"/>
            <a:ext cx="3689082" cy="350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https://kimi-img.moonshot.cn/pub/slides/slides_tmpl/image/25-08-27-20:07:56-d2nfa718bjvh7rlj0gng.png"/>
          <p:cNvPicPr>
            <a:picLocks noChangeAspect="1"/>
          </p:cNvPicPr>
          <p:nvPr/>
        </p:nvPicPr>
        <p:blipFill>
          <a:blip r:embed="rId4">
            <a:alphaModFix amt="12000"/>
          </a:blip>
          <a:srcRect r="25396" b="24777"/>
          <a:stretch/>
        </p:blipFill>
        <p:spPr>
          <a:xfrm>
            <a:off x="3175" y="635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54600" y="3223895"/>
            <a:ext cx="678751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 &amp; Valeur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" y="-1422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</a:rPr>
              <a:t>Depisteel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21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Shape 3"/>
          <p:cNvSpPr/>
          <p:nvPr/>
        </p:nvSpPr>
        <p:spPr>
          <a:xfrm>
            <a:off x="600075" y="13462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1117600" y="1295400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Hub Centralisé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879600"/>
            <a:ext cx="3441700" cy="452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cliniques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épidémiologiques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 </a:t>
            </a: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moléculaires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dans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source unique et sécurisée.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16400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19600" y="121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1" name="Shape 8"/>
          <p:cNvSpPr/>
          <p:nvPr/>
        </p:nvSpPr>
        <p:spPr>
          <a:xfrm>
            <a:off x="4530725" y="1346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080000" y="12954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Tableau de Bord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19600" y="1879600"/>
            <a:ext cx="3441700" cy="452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Fournit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vue de surveillance nationale pour que les autorités sanitaires puissent surveiller les tendances et réagir rapidement.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78800" y="1016000"/>
            <a:ext cx="3759200" cy="5588000"/>
          </a:xfrm>
          <a:custGeom>
            <a:avLst/>
            <a:gdLst/>
            <a:ahLst/>
            <a:cxnLst/>
            <a:rect l="l" t="t" r="r" b="b"/>
            <a:pathLst>
              <a:path w="3759200" h="55880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5486389"/>
                </a:lnTo>
                <a:cubicBezTo>
                  <a:pt x="3759200" y="5542507"/>
                  <a:pt x="3713707" y="5588000"/>
                  <a:pt x="3657589" y="5588000"/>
                </a:cubicBezTo>
                <a:lnTo>
                  <a:pt x="101611" y="5588000"/>
                </a:lnTo>
                <a:cubicBezTo>
                  <a:pt x="45493" y="5588000"/>
                  <a:pt x="0" y="5542507"/>
                  <a:pt x="0" y="54863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382000" y="1219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6" name="Shape 13"/>
          <p:cNvSpPr/>
          <p:nvPr/>
        </p:nvSpPr>
        <p:spPr>
          <a:xfrm>
            <a:off x="8477250" y="1346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4625" y="0"/>
                </a:moveTo>
                <a:cubicBezTo>
                  <a:pt x="174625" y="-8781"/>
                  <a:pt x="167531" y="-15875"/>
                  <a:pt x="158750" y="-15875"/>
                </a:cubicBezTo>
                <a:cubicBezTo>
                  <a:pt x="149969" y="-15875"/>
                  <a:pt x="142875" y="-8781"/>
                  <a:pt x="142875" y="0"/>
                </a:cubicBezTo>
                <a:lnTo>
                  <a:pt x="142875" y="31750"/>
                </a:lnTo>
                <a:lnTo>
                  <a:pt x="95250" y="31750"/>
                </a:lnTo>
                <a:cubicBezTo>
                  <a:pt x="68957" y="31750"/>
                  <a:pt x="47625" y="53082"/>
                  <a:pt x="47625" y="79375"/>
                </a:cubicBezTo>
                <a:lnTo>
                  <a:pt x="47625" y="190500"/>
                </a:lnTo>
                <a:cubicBezTo>
                  <a:pt x="47625" y="216793"/>
                  <a:pt x="68957" y="238125"/>
                  <a:pt x="95250" y="238125"/>
                </a:cubicBezTo>
                <a:lnTo>
                  <a:pt x="222250" y="238125"/>
                </a:lnTo>
                <a:cubicBezTo>
                  <a:pt x="248543" y="238125"/>
                  <a:pt x="269875" y="216793"/>
                  <a:pt x="269875" y="190500"/>
                </a:cubicBezTo>
                <a:lnTo>
                  <a:pt x="269875" y="79375"/>
                </a:lnTo>
                <a:cubicBezTo>
                  <a:pt x="269875" y="53082"/>
                  <a:pt x="248543" y="31750"/>
                  <a:pt x="222250" y="31750"/>
                </a:cubicBezTo>
                <a:lnTo>
                  <a:pt x="174625" y="31750"/>
                </a:lnTo>
                <a:lnTo>
                  <a:pt x="174625" y="0"/>
                </a:lnTo>
                <a:close/>
                <a:moveTo>
                  <a:pt x="79375" y="182563"/>
                </a:moveTo>
                <a:cubicBezTo>
                  <a:pt x="79375" y="175964"/>
                  <a:pt x="84683" y="170656"/>
                  <a:pt x="91281" y="170656"/>
                </a:cubicBezTo>
                <a:lnTo>
                  <a:pt x="107156" y="170656"/>
                </a:lnTo>
                <a:cubicBezTo>
                  <a:pt x="113754" y="170656"/>
                  <a:pt x="119063" y="175964"/>
                  <a:pt x="119063" y="182563"/>
                </a:cubicBezTo>
                <a:cubicBezTo>
                  <a:pt x="119063" y="189161"/>
                  <a:pt x="113754" y="194469"/>
                  <a:pt x="107156" y="194469"/>
                </a:cubicBezTo>
                <a:lnTo>
                  <a:pt x="91281" y="194469"/>
                </a:lnTo>
                <a:cubicBezTo>
                  <a:pt x="84683" y="194469"/>
                  <a:pt x="79375" y="189161"/>
                  <a:pt x="79375" y="182563"/>
                </a:cubicBezTo>
                <a:close/>
                <a:moveTo>
                  <a:pt x="138906" y="182563"/>
                </a:moveTo>
                <a:cubicBezTo>
                  <a:pt x="138906" y="175964"/>
                  <a:pt x="144214" y="170656"/>
                  <a:pt x="150813" y="170656"/>
                </a:cubicBezTo>
                <a:lnTo>
                  <a:pt x="166688" y="170656"/>
                </a:lnTo>
                <a:cubicBezTo>
                  <a:pt x="173286" y="170656"/>
                  <a:pt x="178594" y="175964"/>
                  <a:pt x="178594" y="182563"/>
                </a:cubicBezTo>
                <a:cubicBezTo>
                  <a:pt x="178594" y="189161"/>
                  <a:pt x="173286" y="194469"/>
                  <a:pt x="166688" y="194469"/>
                </a:cubicBezTo>
                <a:lnTo>
                  <a:pt x="150813" y="194469"/>
                </a:lnTo>
                <a:cubicBezTo>
                  <a:pt x="144214" y="194469"/>
                  <a:pt x="138906" y="189161"/>
                  <a:pt x="138906" y="182563"/>
                </a:cubicBezTo>
                <a:close/>
                <a:moveTo>
                  <a:pt x="198438" y="182563"/>
                </a:moveTo>
                <a:cubicBezTo>
                  <a:pt x="198438" y="175964"/>
                  <a:pt x="203746" y="170656"/>
                  <a:pt x="210344" y="170656"/>
                </a:cubicBezTo>
                <a:lnTo>
                  <a:pt x="226219" y="170656"/>
                </a:lnTo>
                <a:cubicBezTo>
                  <a:pt x="232817" y="170656"/>
                  <a:pt x="238125" y="175964"/>
                  <a:pt x="238125" y="182563"/>
                </a:cubicBezTo>
                <a:cubicBezTo>
                  <a:pt x="238125" y="189161"/>
                  <a:pt x="232817" y="194469"/>
                  <a:pt x="226219" y="194469"/>
                </a:cubicBezTo>
                <a:lnTo>
                  <a:pt x="210344" y="194469"/>
                </a:lnTo>
                <a:cubicBezTo>
                  <a:pt x="203746" y="194469"/>
                  <a:pt x="198438" y="189161"/>
                  <a:pt x="198438" y="182563"/>
                </a:cubicBezTo>
                <a:close/>
                <a:moveTo>
                  <a:pt x="111125" y="87313"/>
                </a:moveTo>
                <a:cubicBezTo>
                  <a:pt x="124267" y="87313"/>
                  <a:pt x="134938" y="97983"/>
                  <a:pt x="134938" y="111125"/>
                </a:cubicBezTo>
                <a:cubicBezTo>
                  <a:pt x="134938" y="124267"/>
                  <a:pt x="124267" y="134938"/>
                  <a:pt x="111125" y="134938"/>
                </a:cubicBezTo>
                <a:cubicBezTo>
                  <a:pt x="97983" y="134938"/>
                  <a:pt x="87313" y="124267"/>
                  <a:pt x="87313" y="111125"/>
                </a:cubicBezTo>
                <a:cubicBezTo>
                  <a:pt x="87313" y="97983"/>
                  <a:pt x="97983" y="87313"/>
                  <a:pt x="111125" y="87313"/>
                </a:cubicBezTo>
                <a:close/>
                <a:moveTo>
                  <a:pt x="182563" y="111125"/>
                </a:moveTo>
                <a:cubicBezTo>
                  <a:pt x="182563" y="97983"/>
                  <a:pt x="193233" y="87313"/>
                  <a:pt x="206375" y="87313"/>
                </a:cubicBezTo>
                <a:cubicBezTo>
                  <a:pt x="219517" y="87313"/>
                  <a:pt x="230188" y="97983"/>
                  <a:pt x="230188" y="111125"/>
                </a:cubicBezTo>
                <a:cubicBezTo>
                  <a:pt x="230188" y="124267"/>
                  <a:pt x="219517" y="134938"/>
                  <a:pt x="206375" y="134938"/>
                </a:cubicBezTo>
                <a:cubicBezTo>
                  <a:pt x="193233" y="134938"/>
                  <a:pt x="182563" y="124267"/>
                  <a:pt x="182563" y="111125"/>
                </a:cubicBezTo>
                <a:close/>
                <a:moveTo>
                  <a:pt x="31750" y="111125"/>
                </a:moveTo>
                <a:cubicBezTo>
                  <a:pt x="31750" y="102344"/>
                  <a:pt x="24656" y="95250"/>
                  <a:pt x="15875" y="95250"/>
                </a:cubicBezTo>
                <a:cubicBezTo>
                  <a:pt x="7094" y="95250"/>
                  <a:pt x="0" y="102344"/>
                  <a:pt x="0" y="111125"/>
                </a:cubicBezTo>
                <a:lnTo>
                  <a:pt x="0" y="158750"/>
                </a:lnTo>
                <a:cubicBezTo>
                  <a:pt x="0" y="167531"/>
                  <a:pt x="7094" y="174625"/>
                  <a:pt x="15875" y="174625"/>
                </a:cubicBezTo>
                <a:cubicBezTo>
                  <a:pt x="24656" y="174625"/>
                  <a:pt x="31750" y="167531"/>
                  <a:pt x="31750" y="158750"/>
                </a:cubicBezTo>
                <a:lnTo>
                  <a:pt x="31750" y="111125"/>
                </a:lnTo>
                <a:close/>
                <a:moveTo>
                  <a:pt x="301625" y="95250"/>
                </a:moveTo>
                <a:cubicBezTo>
                  <a:pt x="292844" y="95250"/>
                  <a:pt x="285750" y="102344"/>
                  <a:pt x="285750" y="111125"/>
                </a:cubicBezTo>
                <a:lnTo>
                  <a:pt x="285750" y="158750"/>
                </a:lnTo>
                <a:cubicBezTo>
                  <a:pt x="285750" y="167531"/>
                  <a:pt x="292844" y="174625"/>
                  <a:pt x="301625" y="174625"/>
                </a:cubicBezTo>
                <a:cubicBezTo>
                  <a:pt x="310406" y="174625"/>
                  <a:pt x="317500" y="167531"/>
                  <a:pt x="317500" y="158750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042400" y="12954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 24/7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1879600"/>
            <a:ext cx="3441700" cy="452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Offre un support et des informations continus, brisant les barrières linguistiques et d'accès.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4097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Valeur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400300"/>
            <a:ext cx="2768600" cy="1701800"/>
          </a:xfrm>
          <a:custGeom>
            <a:avLst/>
            <a:gdLst/>
            <a:ahLst/>
            <a:cxnLst/>
            <a:rect l="l" t="t" r="r" b="b"/>
            <a:pathLst>
              <a:path w="2768600" h="17018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1600203"/>
                </a:lnTo>
                <a:cubicBezTo>
                  <a:pt x="2768600" y="1656313"/>
                  <a:pt x="2723113" y="1701800"/>
                  <a:pt x="26670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427163" y="2603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47625" y="95250"/>
                </a:moveTo>
                <a:cubicBezTo>
                  <a:pt x="47625" y="49251"/>
                  <a:pt x="84970" y="11906"/>
                  <a:pt x="130969" y="11906"/>
                </a:cubicBezTo>
                <a:cubicBezTo>
                  <a:pt x="176967" y="11906"/>
                  <a:pt x="214313" y="49251"/>
                  <a:pt x="214313" y="95250"/>
                </a:cubicBezTo>
                <a:cubicBezTo>
                  <a:pt x="214313" y="141249"/>
                  <a:pt x="176967" y="178594"/>
                  <a:pt x="130969" y="178594"/>
                </a:cubicBezTo>
                <a:cubicBezTo>
                  <a:pt x="84970" y="178594"/>
                  <a:pt x="47625" y="141249"/>
                  <a:pt x="47625" y="95250"/>
                </a:cubicBezTo>
                <a:close/>
                <a:moveTo>
                  <a:pt x="0" y="345281"/>
                </a:moveTo>
                <a:cubicBezTo>
                  <a:pt x="0" y="272951"/>
                  <a:pt x="58638" y="214313"/>
                  <a:pt x="130969" y="214313"/>
                </a:cubicBezTo>
                <a:cubicBezTo>
                  <a:pt x="203299" y="214313"/>
                  <a:pt x="261938" y="272951"/>
                  <a:pt x="261938" y="345281"/>
                </a:cubicBezTo>
                <a:lnTo>
                  <a:pt x="261938" y="349746"/>
                </a:lnTo>
                <a:cubicBezTo>
                  <a:pt x="261938" y="367010"/>
                  <a:pt x="247948" y="381000"/>
                  <a:pt x="230684" y="381000"/>
                </a:cubicBezTo>
                <a:lnTo>
                  <a:pt x="31254" y="381000"/>
                </a:lnTo>
                <a:cubicBezTo>
                  <a:pt x="13990" y="381000"/>
                  <a:pt x="0" y="367010"/>
                  <a:pt x="0" y="349746"/>
                </a:cubicBezTo>
                <a:lnTo>
                  <a:pt x="0" y="345281"/>
                </a:lnTo>
                <a:close/>
                <a:moveTo>
                  <a:pt x="321469" y="47625"/>
                </a:moveTo>
                <a:cubicBezTo>
                  <a:pt x="360896" y="47625"/>
                  <a:pt x="392906" y="79635"/>
                  <a:pt x="392906" y="119063"/>
                </a:cubicBezTo>
                <a:cubicBezTo>
                  <a:pt x="392906" y="158490"/>
                  <a:pt x="360896" y="190500"/>
                  <a:pt x="321469" y="190500"/>
                </a:cubicBezTo>
                <a:cubicBezTo>
                  <a:pt x="282041" y="190500"/>
                  <a:pt x="250031" y="158490"/>
                  <a:pt x="250031" y="119063"/>
                </a:cubicBezTo>
                <a:cubicBezTo>
                  <a:pt x="250031" y="79635"/>
                  <a:pt x="282041" y="47625"/>
                  <a:pt x="321469" y="47625"/>
                </a:cubicBezTo>
                <a:close/>
                <a:moveTo>
                  <a:pt x="321469" y="226219"/>
                </a:moveTo>
                <a:cubicBezTo>
                  <a:pt x="380628" y="226219"/>
                  <a:pt x="428625" y="274216"/>
                  <a:pt x="428625" y="333375"/>
                </a:cubicBezTo>
                <a:lnTo>
                  <a:pt x="428625" y="350044"/>
                </a:lnTo>
                <a:cubicBezTo>
                  <a:pt x="428625" y="367159"/>
                  <a:pt x="414784" y="381000"/>
                  <a:pt x="397669" y="381000"/>
                </a:cubicBezTo>
                <a:lnTo>
                  <a:pt x="289917" y="381000"/>
                </a:lnTo>
                <a:cubicBezTo>
                  <a:pt x="294829" y="371698"/>
                  <a:pt x="297656" y="361057"/>
                  <a:pt x="297656" y="349746"/>
                </a:cubicBezTo>
                <a:lnTo>
                  <a:pt x="297656" y="345281"/>
                </a:lnTo>
                <a:cubicBezTo>
                  <a:pt x="297656" y="306958"/>
                  <a:pt x="284708" y="271686"/>
                  <a:pt x="263054" y="243557"/>
                </a:cubicBezTo>
                <a:cubicBezTo>
                  <a:pt x="279871" y="232618"/>
                  <a:pt x="299963" y="226219"/>
                  <a:pt x="321469" y="226219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Text 3"/>
          <p:cNvSpPr/>
          <p:nvPr/>
        </p:nvSpPr>
        <p:spPr>
          <a:xfrm>
            <a:off x="406400" y="30861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33909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Accès 24/7 à l'info et suivi personnalisé.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25800" y="2400300"/>
            <a:ext cx="2768600" cy="1701800"/>
          </a:xfrm>
          <a:custGeom>
            <a:avLst/>
            <a:gdLst/>
            <a:ahLst/>
            <a:cxnLst/>
            <a:rect l="l" t="t" r="r" b="b"/>
            <a:pathLst>
              <a:path w="2768600" h="1955800">
                <a:moveTo>
                  <a:pt x="101604" y="0"/>
                </a:moveTo>
                <a:lnTo>
                  <a:pt x="2666996" y="0"/>
                </a:lnTo>
                <a:cubicBezTo>
                  <a:pt x="2723110" y="0"/>
                  <a:pt x="2768600" y="45490"/>
                  <a:pt x="2768600" y="101604"/>
                </a:cubicBezTo>
                <a:lnTo>
                  <a:pt x="2768600" y="1854196"/>
                </a:lnTo>
                <a:cubicBezTo>
                  <a:pt x="2768600" y="1910310"/>
                  <a:pt x="2723110" y="1955800"/>
                  <a:pt x="2666996" y="1955800"/>
                </a:cubicBezTo>
                <a:lnTo>
                  <a:pt x="101604" y="1955800"/>
                </a:lnTo>
                <a:cubicBezTo>
                  <a:pt x="45490" y="1955800"/>
                  <a:pt x="0" y="1910310"/>
                  <a:pt x="0" y="1854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375150" y="2476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0" name="Text 7"/>
          <p:cNvSpPr/>
          <p:nvPr/>
        </p:nvSpPr>
        <p:spPr>
          <a:xfrm>
            <a:off x="3378200" y="29591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4550" y="3263900"/>
            <a:ext cx="2451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Meilleure couverture vaccinale et moins d'inégalités.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7600" y="2400300"/>
            <a:ext cx="2768600" cy="1701800"/>
          </a:xfrm>
          <a:custGeom>
            <a:avLst/>
            <a:gdLst/>
            <a:ahLst/>
            <a:cxnLst/>
            <a:rect l="l" t="t" r="r" b="b"/>
            <a:pathLst>
              <a:path w="2768600" h="17018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1600203"/>
                </a:lnTo>
                <a:cubicBezTo>
                  <a:pt x="2768600" y="1656313"/>
                  <a:pt x="2723113" y="1701800"/>
                  <a:pt x="26670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418387" y="2603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5953"/>
                </a:move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lose/>
                <a:moveTo>
                  <a:pt x="211336" y="238720"/>
                </a:moveTo>
                <a:cubicBezTo>
                  <a:pt x="207318" y="238348"/>
                  <a:pt x="203150" y="238125"/>
                  <a:pt x="198983" y="238125"/>
                </a:cubicBezTo>
                <a:lnTo>
                  <a:pt x="134317" y="238125"/>
                </a:lnTo>
                <a:cubicBezTo>
                  <a:pt x="130150" y="238125"/>
                  <a:pt x="126057" y="238348"/>
                  <a:pt x="121965" y="238720"/>
                </a:cubicBezTo>
                <a:lnTo>
                  <a:pt x="121965" y="288950"/>
                </a:lnTo>
                <a:cubicBezTo>
                  <a:pt x="134243" y="294605"/>
                  <a:pt x="142801" y="307032"/>
                  <a:pt x="142801" y="321394"/>
                </a:cubicBezTo>
                <a:cubicBezTo>
                  <a:pt x="142801" y="341114"/>
                  <a:pt x="126802" y="357113"/>
                  <a:pt x="107082" y="357113"/>
                </a:cubicBezTo>
                <a:cubicBezTo>
                  <a:pt x="87362" y="357113"/>
                  <a:pt x="71363" y="341114"/>
                  <a:pt x="71363" y="321394"/>
                </a:cubicBezTo>
                <a:cubicBezTo>
                  <a:pt x="71363" y="306958"/>
                  <a:pt x="79921" y="294531"/>
                  <a:pt x="92199" y="288950"/>
                </a:cubicBezTo>
                <a:lnTo>
                  <a:pt x="92199" y="245492"/>
                </a:lnTo>
                <a:cubicBezTo>
                  <a:pt x="45393" y="262682"/>
                  <a:pt x="11906" y="307777"/>
                  <a:pt x="11906" y="360611"/>
                </a:cubicBezTo>
                <a:cubicBezTo>
                  <a:pt x="11906" y="371847"/>
                  <a:pt x="21059" y="381000"/>
                  <a:pt x="32296" y="381000"/>
                </a:cubicBezTo>
                <a:lnTo>
                  <a:pt x="301005" y="381000"/>
                </a:lnTo>
                <a:cubicBezTo>
                  <a:pt x="312241" y="381000"/>
                  <a:pt x="321394" y="371847"/>
                  <a:pt x="321394" y="360611"/>
                </a:cubicBezTo>
                <a:cubicBezTo>
                  <a:pt x="321394" y="307777"/>
                  <a:pt x="287908" y="262756"/>
                  <a:pt x="241027" y="245566"/>
                </a:cubicBezTo>
                <a:lnTo>
                  <a:pt x="241027" y="273397"/>
                </a:lnTo>
                <a:cubicBezTo>
                  <a:pt x="258366" y="279499"/>
                  <a:pt x="270793" y="296094"/>
                  <a:pt x="270793" y="315516"/>
                </a:cubicBezTo>
                <a:lnTo>
                  <a:pt x="270793" y="339328"/>
                </a:lnTo>
                <a:cubicBezTo>
                  <a:pt x="270793" y="347514"/>
                  <a:pt x="264096" y="354211"/>
                  <a:pt x="255910" y="354211"/>
                </a:cubicBezTo>
                <a:cubicBezTo>
                  <a:pt x="247724" y="354211"/>
                  <a:pt x="241027" y="347514"/>
                  <a:pt x="241027" y="339328"/>
                </a:cubicBezTo>
                <a:lnTo>
                  <a:pt x="241027" y="315516"/>
                </a:lnTo>
                <a:cubicBezTo>
                  <a:pt x="241027" y="307330"/>
                  <a:pt x="234330" y="300633"/>
                  <a:pt x="226144" y="300633"/>
                </a:cubicBezTo>
                <a:cubicBezTo>
                  <a:pt x="217959" y="300633"/>
                  <a:pt x="211262" y="307330"/>
                  <a:pt x="211262" y="315516"/>
                </a:cubicBezTo>
                <a:lnTo>
                  <a:pt x="211262" y="339328"/>
                </a:lnTo>
                <a:cubicBezTo>
                  <a:pt x="211262" y="347514"/>
                  <a:pt x="204564" y="354211"/>
                  <a:pt x="196379" y="354211"/>
                </a:cubicBezTo>
                <a:cubicBezTo>
                  <a:pt x="188193" y="354211"/>
                  <a:pt x="181496" y="347514"/>
                  <a:pt x="181496" y="339328"/>
                </a:cubicBezTo>
                <a:lnTo>
                  <a:pt x="181496" y="315516"/>
                </a:lnTo>
                <a:cubicBezTo>
                  <a:pt x="181496" y="296094"/>
                  <a:pt x="193923" y="279574"/>
                  <a:pt x="211262" y="273397"/>
                </a:cubicBezTo>
                <a:lnTo>
                  <a:pt x="211262" y="238720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4" name="Text 11"/>
          <p:cNvSpPr/>
          <p:nvPr/>
        </p:nvSpPr>
        <p:spPr>
          <a:xfrm>
            <a:off x="6350000" y="30861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Professionnels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6350" y="33909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 fiables et coordination simplifiée.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169400" y="2400300"/>
            <a:ext cx="2768600" cy="1701800"/>
          </a:xfrm>
          <a:custGeom>
            <a:avLst/>
            <a:gdLst/>
            <a:ahLst/>
            <a:cxnLst/>
            <a:rect l="l" t="t" r="r" b="b"/>
            <a:pathLst>
              <a:path w="2768600" h="1701800">
                <a:moveTo>
                  <a:pt x="101597" y="0"/>
                </a:moveTo>
                <a:lnTo>
                  <a:pt x="2667003" y="0"/>
                </a:lnTo>
                <a:cubicBezTo>
                  <a:pt x="2723113" y="0"/>
                  <a:pt x="2768600" y="45487"/>
                  <a:pt x="2768600" y="101597"/>
                </a:cubicBezTo>
                <a:lnTo>
                  <a:pt x="2768600" y="1600203"/>
                </a:lnTo>
                <a:cubicBezTo>
                  <a:pt x="2768600" y="1656313"/>
                  <a:pt x="2723113" y="1701800"/>
                  <a:pt x="2667003" y="1701800"/>
                </a:cubicBezTo>
                <a:lnTo>
                  <a:pt x="101597" y="1701800"/>
                </a:lnTo>
                <a:cubicBezTo>
                  <a:pt x="45487" y="1701800"/>
                  <a:pt x="0" y="1656313"/>
                  <a:pt x="0" y="16002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342563" y="2603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95250" y="47625"/>
                </a:moveTo>
                <a:cubicBezTo>
                  <a:pt x="95250" y="21357"/>
                  <a:pt x="116607" y="0"/>
                  <a:pt x="142875" y="0"/>
                </a:cubicBezTo>
                <a:lnTo>
                  <a:pt x="285750" y="0"/>
                </a:lnTo>
                <a:cubicBezTo>
                  <a:pt x="312018" y="0"/>
                  <a:pt x="333375" y="21357"/>
                  <a:pt x="333375" y="47625"/>
                </a:cubicBezTo>
                <a:lnTo>
                  <a:pt x="333375" y="95250"/>
                </a:lnTo>
                <a:lnTo>
                  <a:pt x="381000" y="95250"/>
                </a:lnTo>
                <a:cubicBezTo>
                  <a:pt x="407268" y="95250"/>
                  <a:pt x="428625" y="116607"/>
                  <a:pt x="428625" y="142875"/>
                </a:cubicBezTo>
                <a:lnTo>
                  <a:pt x="428625" y="333375"/>
                </a:lnTo>
                <a:cubicBezTo>
                  <a:pt x="428625" y="359643"/>
                  <a:pt x="407268" y="381000"/>
                  <a:pt x="381000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142875"/>
                </a:lnTo>
                <a:cubicBezTo>
                  <a:pt x="0" y="116607"/>
                  <a:pt x="21357" y="95250"/>
                  <a:pt x="47625" y="95250"/>
                </a:cubicBezTo>
                <a:lnTo>
                  <a:pt x="95250" y="95250"/>
                </a:lnTo>
                <a:lnTo>
                  <a:pt x="95250" y="47625"/>
                </a:lnTo>
                <a:close/>
                <a:moveTo>
                  <a:pt x="202406" y="261938"/>
                </a:moveTo>
                <a:cubicBezTo>
                  <a:pt x="189235" y="261938"/>
                  <a:pt x="178594" y="272579"/>
                  <a:pt x="178594" y="285750"/>
                </a:cubicBezTo>
                <a:lnTo>
                  <a:pt x="178594" y="345281"/>
                </a:lnTo>
                <a:lnTo>
                  <a:pt x="250031" y="345281"/>
                </a:lnTo>
                <a:lnTo>
                  <a:pt x="250031" y="285750"/>
                </a:lnTo>
                <a:cubicBezTo>
                  <a:pt x="250031" y="272579"/>
                  <a:pt x="239390" y="261938"/>
                  <a:pt x="226219" y="261938"/>
                </a:cubicBezTo>
                <a:lnTo>
                  <a:pt x="202406" y="261938"/>
                </a:lnTo>
                <a:close/>
                <a:moveTo>
                  <a:pt x="95250" y="273844"/>
                </a:moveTo>
                <a:lnTo>
                  <a:pt x="95250" y="250031"/>
                </a:lnTo>
                <a:cubicBezTo>
                  <a:pt x="95250" y="243483"/>
                  <a:pt x="89892" y="238125"/>
                  <a:pt x="83344" y="238125"/>
                </a:cubicBezTo>
                <a:lnTo>
                  <a:pt x="59531" y="238125"/>
                </a:lnTo>
                <a:cubicBezTo>
                  <a:pt x="52983" y="238125"/>
                  <a:pt x="47625" y="243483"/>
                  <a:pt x="47625" y="250031"/>
                </a:cubicBezTo>
                <a:lnTo>
                  <a:pt x="47625" y="273844"/>
                </a:lnTo>
                <a:cubicBezTo>
                  <a:pt x="47625" y="280392"/>
                  <a:pt x="52983" y="285750"/>
                  <a:pt x="59531" y="285750"/>
                </a:cubicBezTo>
                <a:lnTo>
                  <a:pt x="83344" y="285750"/>
                </a:lnTo>
                <a:cubicBezTo>
                  <a:pt x="89892" y="285750"/>
                  <a:pt x="95250" y="280392"/>
                  <a:pt x="95250" y="273844"/>
                </a:cubicBezTo>
                <a:close/>
                <a:moveTo>
                  <a:pt x="83344" y="190500"/>
                </a:moveTo>
                <a:cubicBezTo>
                  <a:pt x="89892" y="190500"/>
                  <a:pt x="95250" y="185142"/>
                  <a:pt x="95250" y="178594"/>
                </a:cubicBezTo>
                <a:lnTo>
                  <a:pt x="95250" y="154781"/>
                </a:lnTo>
                <a:cubicBezTo>
                  <a:pt x="95250" y="148233"/>
                  <a:pt x="89892" y="142875"/>
                  <a:pt x="83344" y="142875"/>
                </a:cubicBezTo>
                <a:lnTo>
                  <a:pt x="59531" y="142875"/>
                </a:lnTo>
                <a:cubicBezTo>
                  <a:pt x="52983" y="142875"/>
                  <a:pt x="47625" y="148233"/>
                  <a:pt x="47625" y="154781"/>
                </a:cubicBezTo>
                <a:lnTo>
                  <a:pt x="47625" y="178594"/>
                </a:lnTo>
                <a:cubicBezTo>
                  <a:pt x="47625" y="185142"/>
                  <a:pt x="52983" y="190500"/>
                  <a:pt x="59531" y="190500"/>
                </a:cubicBezTo>
                <a:lnTo>
                  <a:pt x="83344" y="190500"/>
                </a:lnTo>
                <a:close/>
                <a:moveTo>
                  <a:pt x="381000" y="273844"/>
                </a:moveTo>
                <a:lnTo>
                  <a:pt x="381000" y="250031"/>
                </a:lnTo>
                <a:cubicBezTo>
                  <a:pt x="381000" y="243483"/>
                  <a:pt x="375642" y="238125"/>
                  <a:pt x="369094" y="238125"/>
                </a:cubicBezTo>
                <a:lnTo>
                  <a:pt x="345281" y="238125"/>
                </a:lnTo>
                <a:cubicBezTo>
                  <a:pt x="338733" y="238125"/>
                  <a:pt x="333375" y="243483"/>
                  <a:pt x="333375" y="250031"/>
                </a:cubicBezTo>
                <a:lnTo>
                  <a:pt x="333375" y="273844"/>
                </a:lnTo>
                <a:cubicBezTo>
                  <a:pt x="333375" y="280392"/>
                  <a:pt x="338733" y="285750"/>
                  <a:pt x="345281" y="285750"/>
                </a:cubicBezTo>
                <a:lnTo>
                  <a:pt x="369094" y="285750"/>
                </a:lnTo>
                <a:cubicBezTo>
                  <a:pt x="375642" y="285750"/>
                  <a:pt x="381000" y="280392"/>
                  <a:pt x="381000" y="273844"/>
                </a:cubicBezTo>
                <a:close/>
                <a:moveTo>
                  <a:pt x="369094" y="190500"/>
                </a:moveTo>
                <a:cubicBezTo>
                  <a:pt x="375642" y="190500"/>
                  <a:pt x="381000" y="185142"/>
                  <a:pt x="381000" y="178594"/>
                </a:cubicBezTo>
                <a:lnTo>
                  <a:pt x="381000" y="154781"/>
                </a:lnTo>
                <a:cubicBezTo>
                  <a:pt x="381000" y="148233"/>
                  <a:pt x="375642" y="142875"/>
                  <a:pt x="369094" y="142875"/>
                </a:cubicBezTo>
                <a:lnTo>
                  <a:pt x="345281" y="142875"/>
                </a:lnTo>
                <a:cubicBezTo>
                  <a:pt x="338733" y="142875"/>
                  <a:pt x="333375" y="148233"/>
                  <a:pt x="333375" y="154781"/>
                </a:cubicBezTo>
                <a:lnTo>
                  <a:pt x="333375" y="178594"/>
                </a:lnTo>
                <a:cubicBezTo>
                  <a:pt x="333375" y="185142"/>
                  <a:pt x="338733" y="190500"/>
                  <a:pt x="345281" y="190500"/>
                </a:cubicBezTo>
                <a:lnTo>
                  <a:pt x="369094" y="190500"/>
                </a:lnTo>
                <a:close/>
                <a:moveTo>
                  <a:pt x="196453" y="77391"/>
                </a:moveTo>
                <a:lnTo>
                  <a:pt x="196453" y="101203"/>
                </a:lnTo>
                <a:lnTo>
                  <a:pt x="172641" y="101203"/>
                </a:lnTo>
                <a:cubicBezTo>
                  <a:pt x="166092" y="101203"/>
                  <a:pt x="160734" y="106561"/>
                  <a:pt x="160734" y="113109"/>
                </a:cubicBezTo>
                <a:lnTo>
                  <a:pt x="160734" y="125016"/>
                </a:lnTo>
                <a:cubicBezTo>
                  <a:pt x="160734" y="131564"/>
                  <a:pt x="166092" y="136922"/>
                  <a:pt x="172641" y="136922"/>
                </a:cubicBezTo>
                <a:lnTo>
                  <a:pt x="196453" y="136922"/>
                </a:lnTo>
                <a:lnTo>
                  <a:pt x="196453" y="160734"/>
                </a:lnTo>
                <a:cubicBezTo>
                  <a:pt x="196453" y="167283"/>
                  <a:pt x="201811" y="172641"/>
                  <a:pt x="208359" y="172641"/>
                </a:cubicBezTo>
                <a:lnTo>
                  <a:pt x="220266" y="172641"/>
                </a:lnTo>
                <a:cubicBezTo>
                  <a:pt x="226814" y="172641"/>
                  <a:pt x="232172" y="167283"/>
                  <a:pt x="232172" y="160734"/>
                </a:cubicBezTo>
                <a:lnTo>
                  <a:pt x="232172" y="136922"/>
                </a:lnTo>
                <a:lnTo>
                  <a:pt x="255984" y="136922"/>
                </a:lnTo>
                <a:cubicBezTo>
                  <a:pt x="262533" y="136922"/>
                  <a:pt x="267891" y="131564"/>
                  <a:pt x="267891" y="125016"/>
                </a:cubicBezTo>
                <a:lnTo>
                  <a:pt x="267891" y="113109"/>
                </a:lnTo>
                <a:cubicBezTo>
                  <a:pt x="267891" y="106561"/>
                  <a:pt x="262533" y="101203"/>
                  <a:pt x="255984" y="101203"/>
                </a:cubicBezTo>
                <a:lnTo>
                  <a:pt x="232172" y="101203"/>
                </a:lnTo>
                <a:lnTo>
                  <a:pt x="232172" y="77391"/>
                </a:lnTo>
                <a:cubicBezTo>
                  <a:pt x="232172" y="70842"/>
                  <a:pt x="226814" y="65484"/>
                  <a:pt x="220266" y="65484"/>
                </a:cubicBezTo>
                <a:lnTo>
                  <a:pt x="208359" y="65484"/>
                </a:lnTo>
                <a:cubicBezTo>
                  <a:pt x="201811" y="65484"/>
                  <a:pt x="196453" y="70842"/>
                  <a:pt x="196453" y="77391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8" name="Text 15"/>
          <p:cNvSpPr/>
          <p:nvPr/>
        </p:nvSpPr>
        <p:spPr>
          <a:xfrm>
            <a:off x="9321800" y="30861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Système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8150" y="33909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Surveillance renforcée pour des actions ciblées.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54000" y="4787900"/>
            <a:ext cx="11684000" cy="660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chemeClr val="bg2">
              <a:alpha val="80000"/>
            </a:schemeClr>
          </a:solidFill>
          <a:ln/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rstanding Consumer Nee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54" y="1837690"/>
            <a:ext cx="392030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https://kimi-img.moonshot.cn/pub/slides/slides_tmpl/image/25-08-27-20:07:56-d2nfa718bjvh7rlj0gng.png"/>
          <p:cNvPicPr>
            <a:picLocks noChangeAspect="1"/>
          </p:cNvPicPr>
          <p:nvPr/>
        </p:nvPicPr>
        <p:blipFill>
          <a:blip r:embed="rId4">
            <a:alphaModFix amt="12000"/>
          </a:blip>
          <a:srcRect r="25396" b="24777"/>
          <a:stretch/>
        </p:blipFill>
        <p:spPr>
          <a:xfrm>
            <a:off x="3175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54600" y="3223895"/>
            <a:ext cx="678751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&amp; Utilisateurs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79600"/>
            <a:ext cx="4559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Marché </a:t>
            </a:r>
            <a:r>
              <a:rPr lang="en-US" sz="3000" b="1" dirty="0" err="1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Porteur</a:t>
            </a: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3000" b="1" dirty="0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18213" y="3428208"/>
            <a:ext cx="369117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 Sénégal a des politiques de santé reproductive solides, mais manque d'outils numériques intégrés, créant </a:t>
            </a:r>
            <a:r>
              <a:rPr lang="en-US" sz="16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opportunité de marché unique renforcée par la poussée à la digitalisation du </a:t>
            </a:r>
            <a:r>
              <a:rPr lang="en-US" sz="16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système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sanitaire.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27600" y="1981200"/>
            <a:ext cx="7010400" cy="660400"/>
          </a:xfrm>
          <a:custGeom>
            <a:avLst/>
            <a:gdLst/>
            <a:ahLst/>
            <a:cxnLst/>
            <a:rect l="l" t="t" r="r" b="b"/>
            <a:pathLst>
              <a:path w="7010400" h="660400">
                <a:moveTo>
                  <a:pt x="101603" y="0"/>
                </a:moveTo>
                <a:lnTo>
                  <a:pt x="6908797" y="0"/>
                </a:lnTo>
                <a:cubicBezTo>
                  <a:pt x="6964911" y="0"/>
                  <a:pt x="7010400" y="45489"/>
                  <a:pt x="7010400" y="101603"/>
                </a:cubicBezTo>
                <a:lnTo>
                  <a:pt x="7010400" y="558797"/>
                </a:lnTo>
                <a:cubicBezTo>
                  <a:pt x="7010400" y="614911"/>
                  <a:pt x="6964911" y="660400"/>
                  <a:pt x="6908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6" name="Text 3"/>
          <p:cNvSpPr/>
          <p:nvPr/>
        </p:nvSpPr>
        <p:spPr>
          <a:xfrm>
            <a:off x="5022850" y="2133600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Total Adressable (TAM) - 1,5 Milliard FCFA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28614" y="2743200"/>
            <a:ext cx="5613400" cy="1016000"/>
          </a:xfrm>
          <a:custGeom>
            <a:avLst/>
            <a:gdLst/>
            <a:ahLst/>
            <a:cxnLst/>
            <a:rect l="l" t="t" r="r" b="b"/>
            <a:pathLst>
              <a:path w="5613400" h="1016000">
                <a:moveTo>
                  <a:pt x="101600" y="0"/>
                </a:moveTo>
                <a:lnTo>
                  <a:pt x="5511800" y="0"/>
                </a:lnTo>
                <a:cubicBezTo>
                  <a:pt x="5567875" y="0"/>
                  <a:pt x="5613400" y="45525"/>
                  <a:pt x="5613400" y="101600"/>
                </a:cubicBezTo>
                <a:lnTo>
                  <a:pt x="5613400" y="914400"/>
                </a:lnTo>
                <a:cubicBezTo>
                  <a:pt x="5613400" y="970475"/>
                  <a:pt x="5567875" y="1016000"/>
                  <a:pt x="5511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6D64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23864" y="2895600"/>
            <a:ext cx="5422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Accessible (SAM) - 600 Millions FCFA (40%)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9627" y="3860800"/>
            <a:ext cx="4203700" cy="1016000"/>
          </a:xfrm>
          <a:custGeom>
            <a:avLst/>
            <a:gdLst/>
            <a:ahLst/>
            <a:cxnLst/>
            <a:rect l="l" t="t" r="r" b="b"/>
            <a:pathLst>
              <a:path w="4203700" h="1016000">
                <a:moveTo>
                  <a:pt x="101600" y="0"/>
                </a:moveTo>
                <a:lnTo>
                  <a:pt x="4102100" y="0"/>
                </a:lnTo>
                <a:cubicBezTo>
                  <a:pt x="4158175" y="0"/>
                  <a:pt x="4203700" y="45525"/>
                  <a:pt x="4203700" y="101600"/>
                </a:cubicBezTo>
                <a:lnTo>
                  <a:pt x="4203700" y="914400"/>
                </a:lnTo>
                <a:cubicBezTo>
                  <a:pt x="4203700" y="970475"/>
                  <a:pt x="4158175" y="1016000"/>
                  <a:pt x="41021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0" name="Text 7"/>
          <p:cNvSpPr/>
          <p:nvPr/>
        </p:nvSpPr>
        <p:spPr>
          <a:xfrm>
            <a:off x="6424877" y="4013200"/>
            <a:ext cx="401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Marché Capturable (SOM) - 150 Millions FCFA (10%)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0" y="-1422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 err="1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Cibles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235200"/>
            <a:ext cx="5638800" cy="3149600"/>
          </a:xfrm>
          <a:custGeom>
            <a:avLst/>
            <a:gdLst/>
            <a:ahLst/>
            <a:cxnLst/>
            <a:rect l="l" t="t" r="r" b="b"/>
            <a:pathLst>
              <a:path w="5638800" h="3149600">
                <a:moveTo>
                  <a:pt x="101606" y="0"/>
                </a:moveTo>
                <a:lnTo>
                  <a:pt x="5537194" y="0"/>
                </a:lnTo>
                <a:cubicBezTo>
                  <a:pt x="5593309" y="0"/>
                  <a:pt x="5638800" y="45491"/>
                  <a:pt x="5638800" y="101606"/>
                </a:cubicBezTo>
                <a:lnTo>
                  <a:pt x="5638800" y="3047994"/>
                </a:lnTo>
                <a:cubicBezTo>
                  <a:pt x="5638800" y="3104109"/>
                  <a:pt x="5593309" y="3149600"/>
                  <a:pt x="55371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844800" y="2540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61925" y="28575"/>
                </a:moveTo>
                <a:cubicBezTo>
                  <a:pt x="161925" y="-8224"/>
                  <a:pt x="191801" y="-38100"/>
                  <a:pt x="228600" y="-38100"/>
                </a:cubicBezTo>
                <a:cubicBezTo>
                  <a:pt x="265399" y="-38100"/>
                  <a:pt x="295275" y="-8224"/>
                  <a:pt x="295275" y="28575"/>
                </a:cubicBezTo>
                <a:cubicBezTo>
                  <a:pt x="295275" y="65374"/>
                  <a:pt x="265399" y="95250"/>
                  <a:pt x="228600" y="95250"/>
                </a:cubicBezTo>
                <a:cubicBezTo>
                  <a:pt x="191801" y="95250"/>
                  <a:pt x="161925" y="65374"/>
                  <a:pt x="161925" y="28575"/>
                </a:cubicBezTo>
                <a:close/>
                <a:moveTo>
                  <a:pt x="133350" y="457200"/>
                </a:moveTo>
                <a:lnTo>
                  <a:pt x="102632" y="457200"/>
                </a:lnTo>
                <a:cubicBezTo>
                  <a:pt x="89654" y="457200"/>
                  <a:pt x="80486" y="444460"/>
                  <a:pt x="84534" y="432078"/>
                </a:cubicBezTo>
                <a:lnTo>
                  <a:pt x="135731" y="278487"/>
                </a:lnTo>
                <a:lnTo>
                  <a:pt x="78224" y="355997"/>
                </a:lnTo>
                <a:cubicBezTo>
                  <a:pt x="65723" y="372904"/>
                  <a:pt x="41791" y="376476"/>
                  <a:pt x="24884" y="363855"/>
                </a:cubicBezTo>
                <a:cubicBezTo>
                  <a:pt x="7977" y="351234"/>
                  <a:pt x="4405" y="327422"/>
                  <a:pt x="17026" y="310515"/>
                </a:cubicBezTo>
                <a:lnTo>
                  <a:pt x="100965" y="197406"/>
                </a:lnTo>
                <a:cubicBezTo>
                  <a:pt x="130969" y="157163"/>
                  <a:pt x="178237" y="133350"/>
                  <a:pt x="228600" y="133350"/>
                </a:cubicBezTo>
                <a:cubicBezTo>
                  <a:pt x="278963" y="133350"/>
                  <a:pt x="326231" y="157163"/>
                  <a:pt x="356235" y="197525"/>
                </a:cubicBezTo>
                <a:lnTo>
                  <a:pt x="440174" y="310634"/>
                </a:lnTo>
                <a:cubicBezTo>
                  <a:pt x="452676" y="327541"/>
                  <a:pt x="449223" y="351353"/>
                  <a:pt x="432316" y="363974"/>
                </a:cubicBezTo>
                <a:cubicBezTo>
                  <a:pt x="415409" y="376595"/>
                  <a:pt x="391597" y="373023"/>
                  <a:pt x="378976" y="356116"/>
                </a:cubicBezTo>
                <a:lnTo>
                  <a:pt x="321469" y="278606"/>
                </a:lnTo>
                <a:lnTo>
                  <a:pt x="372666" y="432078"/>
                </a:lnTo>
                <a:cubicBezTo>
                  <a:pt x="376833" y="444460"/>
                  <a:pt x="367546" y="457200"/>
                  <a:pt x="354568" y="457200"/>
                </a:cubicBezTo>
                <a:lnTo>
                  <a:pt x="323850" y="457200"/>
                </a:lnTo>
                <a:lnTo>
                  <a:pt x="323850" y="609600"/>
                </a:lnTo>
                <a:cubicBezTo>
                  <a:pt x="323850" y="630674"/>
                  <a:pt x="306824" y="647700"/>
                  <a:pt x="285750" y="647700"/>
                </a:cubicBezTo>
                <a:cubicBezTo>
                  <a:pt x="264676" y="647700"/>
                  <a:pt x="247650" y="630674"/>
                  <a:pt x="247650" y="609600"/>
                </a:cubicBezTo>
                <a:lnTo>
                  <a:pt x="247650" y="457200"/>
                </a:lnTo>
                <a:lnTo>
                  <a:pt x="209550" y="457200"/>
                </a:lnTo>
                <a:lnTo>
                  <a:pt x="209550" y="609600"/>
                </a:lnTo>
                <a:cubicBezTo>
                  <a:pt x="209550" y="630674"/>
                  <a:pt x="192524" y="647700"/>
                  <a:pt x="171450" y="647700"/>
                </a:cubicBezTo>
                <a:cubicBezTo>
                  <a:pt x="150376" y="647700"/>
                  <a:pt x="133350" y="630674"/>
                  <a:pt x="133350" y="609600"/>
                </a:cubicBezTo>
                <a:lnTo>
                  <a:pt x="133350" y="457200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Text 3"/>
          <p:cNvSpPr/>
          <p:nvPr/>
        </p:nvSpPr>
        <p:spPr>
          <a:xfrm>
            <a:off x="1074341" y="33528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Patients </a:t>
            </a:r>
            <a:r>
              <a:rPr lang="en-US" sz="2400" b="1" dirty="0" err="1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</a:rPr>
              <a:t>sénégalais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2691" y="3911600"/>
            <a:ext cx="50927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Âgées de 15 à 65 ans, surtout en zones rurales/périurbaines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Déjà dépistées pour des lésions précancéreuses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Personnes à haut risque (antécédents familiaux, IST)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Jeunes filles et femmes non vaccinées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99200" y="2235200"/>
            <a:ext cx="5638800" cy="3149600"/>
          </a:xfrm>
          <a:custGeom>
            <a:avLst/>
            <a:gdLst/>
            <a:ahLst/>
            <a:cxnLst/>
            <a:rect l="l" t="t" r="r" b="b"/>
            <a:pathLst>
              <a:path w="5638800" h="3149600">
                <a:moveTo>
                  <a:pt x="101606" y="0"/>
                </a:moveTo>
                <a:lnTo>
                  <a:pt x="5537194" y="0"/>
                </a:lnTo>
                <a:cubicBezTo>
                  <a:pt x="5593309" y="0"/>
                  <a:pt x="5638800" y="45491"/>
                  <a:pt x="5638800" y="101606"/>
                </a:cubicBezTo>
                <a:lnTo>
                  <a:pt x="5638800" y="3047994"/>
                </a:lnTo>
                <a:cubicBezTo>
                  <a:pt x="5638800" y="3104109"/>
                  <a:pt x="5593309" y="3149600"/>
                  <a:pt x="55371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775700" y="2540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20159" y="101441"/>
                </a:moveTo>
                <a:lnTo>
                  <a:pt x="181332" y="255746"/>
                </a:lnTo>
                <a:cubicBezTo>
                  <a:pt x="175855" y="261818"/>
                  <a:pt x="176093" y="271224"/>
                  <a:pt x="181928" y="277058"/>
                </a:cubicBezTo>
                <a:cubicBezTo>
                  <a:pt x="218242" y="313373"/>
                  <a:pt x="277178" y="313373"/>
                  <a:pt x="313492" y="277058"/>
                </a:cubicBezTo>
                <a:lnTo>
                  <a:pt x="351353" y="239197"/>
                </a:lnTo>
                <a:cubicBezTo>
                  <a:pt x="356354" y="234196"/>
                  <a:pt x="362664" y="231458"/>
                  <a:pt x="369094" y="230981"/>
                </a:cubicBezTo>
                <a:cubicBezTo>
                  <a:pt x="377190" y="230267"/>
                  <a:pt x="385524" y="233005"/>
                  <a:pt x="391716" y="239197"/>
                </a:cubicBezTo>
                <a:lnTo>
                  <a:pt x="601980" y="447675"/>
                </a:lnTo>
                <a:lnTo>
                  <a:pt x="685800" y="381000"/>
                </a:lnTo>
                <a:lnTo>
                  <a:pt x="685800" y="38100"/>
                </a:lnTo>
                <a:lnTo>
                  <a:pt x="552450" y="114300"/>
                </a:lnTo>
                <a:lnTo>
                  <a:pt x="524113" y="95369"/>
                </a:lnTo>
                <a:cubicBezTo>
                  <a:pt x="505301" y="82867"/>
                  <a:pt x="483275" y="76200"/>
                  <a:pt x="460653" y="76200"/>
                </a:cubicBezTo>
                <a:lnTo>
                  <a:pt x="376833" y="76200"/>
                </a:lnTo>
                <a:cubicBezTo>
                  <a:pt x="375523" y="76200"/>
                  <a:pt x="374094" y="76200"/>
                  <a:pt x="372785" y="76319"/>
                </a:cubicBezTo>
                <a:cubicBezTo>
                  <a:pt x="352663" y="77391"/>
                  <a:pt x="333732" y="86439"/>
                  <a:pt x="320159" y="101441"/>
                </a:cubicBezTo>
                <a:close/>
                <a:moveTo>
                  <a:pt x="138827" y="217527"/>
                </a:moveTo>
                <a:lnTo>
                  <a:pt x="265986" y="76200"/>
                </a:lnTo>
                <a:lnTo>
                  <a:pt x="218837" y="76200"/>
                </a:lnTo>
                <a:cubicBezTo>
                  <a:pt x="188476" y="76200"/>
                  <a:pt x="159425" y="88225"/>
                  <a:pt x="137993" y="109657"/>
                </a:cubicBezTo>
                <a:lnTo>
                  <a:pt x="133350" y="114300"/>
                </a:lnTo>
                <a:lnTo>
                  <a:pt x="0" y="38100"/>
                </a:lnTo>
                <a:lnTo>
                  <a:pt x="0" y="381000"/>
                </a:lnTo>
                <a:lnTo>
                  <a:pt x="186214" y="536138"/>
                </a:lnTo>
                <a:cubicBezTo>
                  <a:pt x="213598" y="558998"/>
                  <a:pt x="248126" y="571500"/>
                  <a:pt x="283726" y="571500"/>
                </a:cubicBezTo>
                <a:lnTo>
                  <a:pt x="302419" y="571500"/>
                </a:lnTo>
                <a:lnTo>
                  <a:pt x="294084" y="563166"/>
                </a:lnTo>
                <a:cubicBezTo>
                  <a:pt x="282892" y="551974"/>
                  <a:pt x="282892" y="533876"/>
                  <a:pt x="294084" y="522803"/>
                </a:cubicBezTo>
                <a:cubicBezTo>
                  <a:pt x="305276" y="511731"/>
                  <a:pt x="323374" y="511612"/>
                  <a:pt x="334447" y="522803"/>
                </a:cubicBezTo>
                <a:lnTo>
                  <a:pt x="383262" y="571619"/>
                </a:lnTo>
                <a:lnTo>
                  <a:pt x="393978" y="571619"/>
                </a:lnTo>
                <a:cubicBezTo>
                  <a:pt x="416719" y="571619"/>
                  <a:pt x="438983" y="566499"/>
                  <a:pt x="459224" y="556974"/>
                </a:cubicBezTo>
                <a:lnTo>
                  <a:pt x="427434" y="525066"/>
                </a:lnTo>
                <a:cubicBezTo>
                  <a:pt x="416243" y="513874"/>
                  <a:pt x="416243" y="495776"/>
                  <a:pt x="427434" y="484703"/>
                </a:cubicBezTo>
                <a:cubicBezTo>
                  <a:pt x="438626" y="473631"/>
                  <a:pt x="456724" y="473512"/>
                  <a:pt x="467797" y="484703"/>
                </a:cubicBezTo>
                <a:lnTo>
                  <a:pt x="505897" y="522803"/>
                </a:lnTo>
                <a:lnTo>
                  <a:pt x="526732" y="501968"/>
                </a:lnTo>
                <a:cubicBezTo>
                  <a:pt x="537329" y="491371"/>
                  <a:pt x="540425" y="476012"/>
                  <a:pt x="535781" y="462558"/>
                </a:cubicBezTo>
                <a:lnTo>
                  <a:pt x="371594" y="299680"/>
                </a:lnTo>
                <a:lnTo>
                  <a:pt x="353854" y="317421"/>
                </a:lnTo>
                <a:cubicBezTo>
                  <a:pt x="295156" y="376118"/>
                  <a:pt x="200144" y="376118"/>
                  <a:pt x="141446" y="317421"/>
                </a:cubicBezTo>
                <a:cubicBezTo>
                  <a:pt x="114062" y="290036"/>
                  <a:pt x="112990" y="246102"/>
                  <a:pt x="138827" y="217408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0" name="Text 7"/>
          <p:cNvSpPr/>
          <p:nvPr/>
        </p:nvSpPr>
        <p:spPr>
          <a:xfrm>
            <a:off x="6831674" y="3352800"/>
            <a:ext cx="457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 err="1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Acteurs</a:t>
            </a:r>
            <a:r>
              <a:rPr lang="en-US" sz="2400" b="1" dirty="0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 Santé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39492" y="3911600"/>
            <a:ext cx="4445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Professionnels de santé (Médecins, Sages-femmes)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Institutions de santé publique &amp; Hôpitaux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ONG &amp; Agents de santé communautaires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Laboratoires privés &amp; Centres de recherche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ayes Impact lève 2 millions d'euros pour le déploiement de Bob, service de  retour à l'emploi | Carenews INF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12" y="809531"/>
            <a:ext cx="4106216" cy="383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https://kimi-img.moonshot.cn/pub/slides/slides_tmpl/image/25-08-27-20:07:56-d2nfa718bjvh7rlj0gng.png"/>
          <p:cNvPicPr>
            <a:picLocks noChangeAspect="1"/>
          </p:cNvPicPr>
          <p:nvPr/>
        </p:nvPicPr>
        <p:blipFill>
          <a:blip r:embed="rId4">
            <a:alphaModFix amt="12000"/>
          </a:blip>
          <a:srcRect r="25396" b="24777"/>
          <a:stretch/>
        </p:blipFill>
        <p:spPr>
          <a:xfrm>
            <a:off x="3175" y="635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54600" y="3223895"/>
            <a:ext cx="678751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Déploiement &amp;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" y="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981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Stratégie de </a:t>
            </a:r>
            <a:r>
              <a:rPr lang="en-US" sz="3000" b="1" dirty="0" err="1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r>
              <a:rPr lang="en-US" sz="3000" b="1" dirty="0" err="1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éploiement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38862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5" name="Shape 2"/>
          <p:cNvSpPr/>
          <p:nvPr/>
        </p:nvSpPr>
        <p:spPr>
          <a:xfrm>
            <a:off x="254000" y="38862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E9986"/>
              </a:gs>
              <a:gs pos="33000">
                <a:srgbClr val="A8B8B2"/>
              </a:gs>
              <a:gs pos="33000">
                <a:srgbClr val="6E9986"/>
              </a:gs>
              <a:gs pos="66000">
                <a:srgbClr val="A8B8B2"/>
              </a:gs>
              <a:gs pos="66000">
                <a:srgbClr val="A8B8B2"/>
              </a:gs>
              <a:gs pos="100000">
                <a:srgbClr val="A8B8B2"/>
              </a:gs>
            </a:gsLst>
            <a:lin ang="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2065867" y="2946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7" name="Text 4"/>
          <p:cNvSpPr/>
          <p:nvPr/>
        </p:nvSpPr>
        <p:spPr>
          <a:xfrm>
            <a:off x="1989667" y="29464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59479" y="39116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Pilote</a:t>
            </a: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000" b="1" dirty="0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5950" y="4368800"/>
            <a:ext cx="3708400" cy="508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Tester la faisabilité opérationnelle avec les acteurs locaux.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89600" y="2946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11" name="Text 8"/>
          <p:cNvSpPr/>
          <p:nvPr/>
        </p:nvSpPr>
        <p:spPr>
          <a:xfrm>
            <a:off x="5613400" y="29464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08959" y="3911600"/>
            <a:ext cx="229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Échelle</a:t>
            </a: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000" b="1" dirty="0" err="1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régionale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39683" y="4368800"/>
            <a:ext cx="3708400" cy="508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Affiner le modèle et tester la robustesse sur des territoires divers.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13334" y="2946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8B8B2"/>
          </a:solidFill>
          <a:ln/>
        </p:spPr>
      </p:sp>
      <p:sp>
        <p:nvSpPr>
          <p:cNvPr id="15" name="Text 12"/>
          <p:cNvSpPr/>
          <p:nvPr/>
        </p:nvSpPr>
        <p:spPr>
          <a:xfrm>
            <a:off x="9237134" y="2946400"/>
            <a:ext cx="965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12969" y="39116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 err="1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Lancement</a:t>
            </a: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000" b="1" dirty="0" smtClean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national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63417" y="4368800"/>
            <a:ext cx="3708400" cy="508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Standardiser, assurer l'interopérabilité et intégrer aux programmes nationaux.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4000" y="51562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8B8B2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1950" y="5308600"/>
            <a:ext cx="1146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Partenaires</a:t>
            </a:r>
            <a:r>
              <a:rPr lang="en-US" sz="14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b="1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clés</a:t>
            </a:r>
            <a:r>
              <a:rPr lang="en-US" sz="1400" b="1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: MSHP, </a:t>
            </a: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IRESSEF, UCAD, eyOne, Kera, WHO, UNICEF, Gates Foundation, H3ABioNet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3716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Impact </a:t>
            </a:r>
            <a:r>
              <a:rPr lang="en-US" sz="3000" b="1" dirty="0" err="1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mesurable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30480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933575" y="3251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Text 3"/>
          <p:cNvSpPr/>
          <p:nvPr/>
        </p:nvSpPr>
        <p:spPr>
          <a:xfrm>
            <a:off x="1371468" y="38608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Individuelle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2750" y="4318000"/>
            <a:ext cx="3441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Suivi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personnalisé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pour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chaque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16400" y="2235200"/>
            <a:ext cx="3759200" cy="3251200"/>
          </a:xfrm>
          <a:custGeom>
            <a:avLst/>
            <a:gdLst/>
            <a:ahLst/>
            <a:cxnLst/>
            <a:rect l="l" t="t" r="r" b="b"/>
            <a:pathLst>
              <a:path w="3759200" h="32512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3149600"/>
                </a:lnTo>
                <a:cubicBezTo>
                  <a:pt x="3759200" y="3205675"/>
                  <a:pt x="3713675" y="3251200"/>
                  <a:pt x="3657600" y="3251200"/>
                </a:cubicBezTo>
                <a:lnTo>
                  <a:pt x="101600" y="3251200"/>
                </a:lnTo>
                <a:cubicBezTo>
                  <a:pt x="45525" y="3251200"/>
                  <a:pt x="0" y="3205675"/>
                  <a:pt x="0" y="3149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A6D64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810250" y="2438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065713" y="3048000"/>
            <a:ext cx="205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Communautaire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75150" y="3505200"/>
            <a:ext cx="344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Réduction des inégalités et de la stigmatisation, meilleure adhésion au dépistage et à la vaccination.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8800" y="3048000"/>
            <a:ext cx="3759200" cy="2438400"/>
          </a:xfrm>
          <a:custGeom>
            <a:avLst/>
            <a:gdLst/>
            <a:ahLst/>
            <a:cxnLst/>
            <a:rect l="l" t="t" r="r" b="b"/>
            <a:pathLst>
              <a:path w="3759200" h="2438400">
                <a:moveTo>
                  <a:pt x="101608" y="0"/>
                </a:moveTo>
                <a:lnTo>
                  <a:pt x="3657592" y="0"/>
                </a:lnTo>
                <a:cubicBezTo>
                  <a:pt x="3713708" y="0"/>
                  <a:pt x="3759200" y="45492"/>
                  <a:pt x="3759200" y="101608"/>
                </a:cubicBezTo>
                <a:lnTo>
                  <a:pt x="3759200" y="2336792"/>
                </a:lnTo>
                <a:cubicBezTo>
                  <a:pt x="3759200" y="2392908"/>
                  <a:pt x="3713708" y="2438400"/>
                  <a:pt x="36575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772650" y="3251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57150"/>
                </a:moveTo>
                <a:cubicBezTo>
                  <a:pt x="57150" y="25628"/>
                  <a:pt x="82778" y="0"/>
                  <a:pt x="114300" y="0"/>
                </a:cubicBezTo>
                <a:lnTo>
                  <a:pt x="342900" y="0"/>
                </a:lnTo>
                <a:cubicBezTo>
                  <a:pt x="374422" y="0"/>
                  <a:pt x="400050" y="25628"/>
                  <a:pt x="400050" y="57150"/>
                </a:cubicBezTo>
                <a:lnTo>
                  <a:pt x="400050" y="165467"/>
                </a:lnTo>
                <a:cubicBezTo>
                  <a:pt x="358170" y="182434"/>
                  <a:pt x="328613" y="223510"/>
                  <a:pt x="328613" y="271463"/>
                </a:cubicBezTo>
                <a:cubicBezTo>
                  <a:pt x="328613" y="296198"/>
                  <a:pt x="336471" y="319147"/>
                  <a:pt x="349865" y="337899"/>
                </a:cubicBezTo>
                <a:cubicBezTo>
                  <a:pt x="303877" y="356652"/>
                  <a:pt x="271463" y="401836"/>
                  <a:pt x="271463" y="454610"/>
                </a:cubicBezTo>
                <a:cubicBezTo>
                  <a:pt x="271463" y="455503"/>
                  <a:pt x="271463" y="456307"/>
                  <a:pt x="271463" y="457200"/>
                </a:cubicBezTo>
                <a:lnTo>
                  <a:pt x="114300" y="457200"/>
                </a:lnTo>
                <a:cubicBezTo>
                  <a:pt x="82778" y="457200"/>
                  <a:pt x="57150" y="431572"/>
                  <a:pt x="57150" y="400050"/>
                </a:cubicBezTo>
                <a:lnTo>
                  <a:pt x="57150" y="57150"/>
                </a:lnTo>
                <a:close/>
                <a:moveTo>
                  <a:pt x="185738" y="357188"/>
                </a:moveTo>
                <a:lnTo>
                  <a:pt x="185738" y="414338"/>
                </a:lnTo>
                <a:lnTo>
                  <a:pt x="233422" y="414338"/>
                </a:lnTo>
                <a:cubicBezTo>
                  <a:pt x="239851" y="388084"/>
                  <a:pt x="252442" y="364242"/>
                  <a:pt x="269498" y="344418"/>
                </a:cubicBezTo>
                <a:cubicBezTo>
                  <a:pt x="264051" y="327005"/>
                  <a:pt x="247799" y="314325"/>
                  <a:pt x="228600" y="314325"/>
                </a:cubicBezTo>
                <a:cubicBezTo>
                  <a:pt x="204936" y="314325"/>
                  <a:pt x="185737" y="333524"/>
                  <a:pt x="185737" y="357188"/>
                </a:cubicBezTo>
                <a:close/>
                <a:moveTo>
                  <a:pt x="221456" y="78581"/>
                </a:moveTo>
                <a:cubicBezTo>
                  <a:pt x="213598" y="78581"/>
                  <a:pt x="207169" y="85011"/>
                  <a:pt x="207169" y="92869"/>
                </a:cubicBezTo>
                <a:lnTo>
                  <a:pt x="207169" y="121444"/>
                </a:lnTo>
                <a:lnTo>
                  <a:pt x="178594" y="121444"/>
                </a:lnTo>
                <a:cubicBezTo>
                  <a:pt x="170736" y="121444"/>
                  <a:pt x="164306" y="127873"/>
                  <a:pt x="164306" y="135731"/>
                </a:cubicBezTo>
                <a:lnTo>
                  <a:pt x="164306" y="150019"/>
                </a:lnTo>
                <a:cubicBezTo>
                  <a:pt x="164306" y="157877"/>
                  <a:pt x="170736" y="164306"/>
                  <a:pt x="178594" y="164306"/>
                </a:cubicBezTo>
                <a:lnTo>
                  <a:pt x="207169" y="164306"/>
                </a:lnTo>
                <a:lnTo>
                  <a:pt x="207169" y="192881"/>
                </a:lnTo>
                <a:cubicBezTo>
                  <a:pt x="207169" y="200739"/>
                  <a:pt x="213598" y="207169"/>
                  <a:pt x="221456" y="207169"/>
                </a:cubicBezTo>
                <a:lnTo>
                  <a:pt x="235744" y="207169"/>
                </a:lnTo>
                <a:cubicBezTo>
                  <a:pt x="243602" y="207169"/>
                  <a:pt x="250031" y="200739"/>
                  <a:pt x="250031" y="192881"/>
                </a:cubicBezTo>
                <a:lnTo>
                  <a:pt x="250031" y="164306"/>
                </a:lnTo>
                <a:lnTo>
                  <a:pt x="278606" y="164306"/>
                </a:lnTo>
                <a:cubicBezTo>
                  <a:pt x="286464" y="164306"/>
                  <a:pt x="292894" y="157877"/>
                  <a:pt x="292894" y="150019"/>
                </a:cubicBezTo>
                <a:lnTo>
                  <a:pt x="292894" y="135731"/>
                </a:lnTo>
                <a:cubicBezTo>
                  <a:pt x="292894" y="127873"/>
                  <a:pt x="286464" y="121444"/>
                  <a:pt x="278606" y="121444"/>
                </a:cubicBezTo>
                <a:lnTo>
                  <a:pt x="250031" y="121444"/>
                </a:lnTo>
                <a:lnTo>
                  <a:pt x="250031" y="92869"/>
                </a:lnTo>
                <a:cubicBezTo>
                  <a:pt x="250031" y="85011"/>
                  <a:pt x="243602" y="78581"/>
                  <a:pt x="235744" y="78581"/>
                </a:cubicBezTo>
                <a:lnTo>
                  <a:pt x="221456" y="78581"/>
                </a:lnTo>
                <a:close/>
                <a:moveTo>
                  <a:pt x="371475" y="271463"/>
                </a:moveTo>
                <a:cubicBezTo>
                  <a:pt x="371475" y="232035"/>
                  <a:pt x="403485" y="200025"/>
                  <a:pt x="442913" y="200025"/>
                </a:cubicBezTo>
                <a:cubicBezTo>
                  <a:pt x="482340" y="200025"/>
                  <a:pt x="514350" y="232035"/>
                  <a:pt x="514350" y="271463"/>
                </a:cubicBezTo>
                <a:cubicBezTo>
                  <a:pt x="514350" y="310890"/>
                  <a:pt x="482340" y="342900"/>
                  <a:pt x="442913" y="342900"/>
                </a:cubicBezTo>
                <a:cubicBezTo>
                  <a:pt x="403485" y="342900"/>
                  <a:pt x="371475" y="310890"/>
                  <a:pt x="371475" y="271463"/>
                </a:cubicBezTo>
                <a:close/>
                <a:moveTo>
                  <a:pt x="314325" y="457200"/>
                </a:moveTo>
                <a:cubicBezTo>
                  <a:pt x="314325" y="409873"/>
                  <a:pt x="352723" y="371475"/>
                  <a:pt x="400050" y="371475"/>
                </a:cubicBezTo>
                <a:lnTo>
                  <a:pt x="485775" y="371475"/>
                </a:lnTo>
                <a:cubicBezTo>
                  <a:pt x="533102" y="371475"/>
                  <a:pt x="571500" y="409873"/>
                  <a:pt x="571500" y="457200"/>
                </a:cubicBezTo>
                <a:cubicBezTo>
                  <a:pt x="571500" y="473006"/>
                  <a:pt x="558731" y="485775"/>
                  <a:pt x="542925" y="485775"/>
                </a:cubicBezTo>
                <a:lnTo>
                  <a:pt x="342900" y="485775"/>
                </a:lnTo>
                <a:cubicBezTo>
                  <a:pt x="327094" y="485775"/>
                  <a:pt x="314325" y="473006"/>
                  <a:pt x="314325" y="45720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4" name="Text 11"/>
          <p:cNvSpPr/>
          <p:nvPr/>
        </p:nvSpPr>
        <p:spPr>
          <a:xfrm>
            <a:off x="9281981" y="3860800"/>
            <a:ext cx="154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Systémique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7550" y="4318000"/>
            <a:ext cx="344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Données fiables pour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meilleure surveillance épidémiologique et des interventions ciblées à l'échelle nationale.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12015" cy="6925310"/>
          </a:xfrm>
          <a:prstGeom prst="rect">
            <a:avLst/>
          </a:prstGeom>
        </p:spPr>
      </p:pic>
      <p:pic>
        <p:nvPicPr>
          <p:cNvPr id="9" name="Picture 2" descr="Les financement à court terme pour votre activité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7" y="1369063"/>
            <a:ext cx="4513703" cy="369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  <a:ln/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054600" y="3223895"/>
            <a:ext cx="678751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Produit &amp; Financement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MVP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5740400" cy="2692400"/>
          </a:xfrm>
          <a:custGeom>
            <a:avLst/>
            <a:gdLst/>
            <a:ahLst/>
            <a:cxnLst/>
            <a:rect l="l" t="t" r="r" b="b"/>
            <a:pathLst>
              <a:path w="5740400" h="2692400">
                <a:moveTo>
                  <a:pt x="101611" y="0"/>
                </a:moveTo>
                <a:lnTo>
                  <a:pt x="5638789" y="0"/>
                </a:lnTo>
                <a:cubicBezTo>
                  <a:pt x="5694907" y="0"/>
                  <a:pt x="5740400" y="45493"/>
                  <a:pt x="5740400" y="101611"/>
                </a:cubicBezTo>
                <a:lnTo>
                  <a:pt x="5740400" y="2590789"/>
                </a:lnTo>
                <a:cubicBezTo>
                  <a:pt x="5740400" y="2646907"/>
                  <a:pt x="5694907" y="2692400"/>
                  <a:pt x="5638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7850" y="2133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29046" y="7144"/>
                </a:moveTo>
                <a:cubicBezTo>
                  <a:pt x="288188" y="7144"/>
                  <a:pt x="336203" y="55159"/>
                  <a:pt x="336203" y="114300"/>
                </a:cubicBezTo>
                <a:cubicBezTo>
                  <a:pt x="336203" y="173441"/>
                  <a:pt x="288188" y="221456"/>
                  <a:pt x="229046" y="221456"/>
                </a:cubicBezTo>
                <a:cubicBezTo>
                  <a:pt x="169905" y="221456"/>
                  <a:pt x="121890" y="173441"/>
                  <a:pt x="121890" y="114300"/>
                </a:cubicBezTo>
                <a:cubicBezTo>
                  <a:pt x="121890" y="55159"/>
                  <a:pt x="169905" y="7144"/>
                  <a:pt x="229046" y="7144"/>
                </a:cubicBezTo>
                <a:close/>
                <a:moveTo>
                  <a:pt x="202436" y="271463"/>
                </a:moveTo>
                <a:lnTo>
                  <a:pt x="255478" y="271463"/>
                </a:lnTo>
                <a:lnTo>
                  <a:pt x="256818" y="271463"/>
                </a:lnTo>
                <a:cubicBezTo>
                  <a:pt x="245299" y="295394"/>
                  <a:pt x="249853" y="323433"/>
                  <a:pt x="267087" y="342454"/>
                </a:cubicBezTo>
                <a:cubicBezTo>
                  <a:pt x="249049" y="362367"/>
                  <a:pt x="244941" y="392281"/>
                  <a:pt x="258693" y="416927"/>
                </a:cubicBezTo>
                <a:lnTo>
                  <a:pt x="278785" y="453003"/>
                </a:lnTo>
                <a:cubicBezTo>
                  <a:pt x="279589" y="454432"/>
                  <a:pt x="280481" y="455861"/>
                  <a:pt x="281374" y="457200"/>
                </a:cubicBezTo>
                <a:lnTo>
                  <a:pt x="69741" y="457200"/>
                </a:lnTo>
                <a:cubicBezTo>
                  <a:pt x="55096" y="457200"/>
                  <a:pt x="43220" y="445324"/>
                  <a:pt x="43220" y="430679"/>
                </a:cubicBezTo>
                <a:cubicBezTo>
                  <a:pt x="43220" y="342721"/>
                  <a:pt x="114479" y="271462"/>
                  <a:pt x="202436" y="271462"/>
                </a:cubicBezTo>
                <a:close/>
                <a:moveTo>
                  <a:pt x="386298" y="221099"/>
                </a:moveTo>
                <a:cubicBezTo>
                  <a:pt x="386298" y="209223"/>
                  <a:pt x="395853" y="199668"/>
                  <a:pt x="407730" y="199668"/>
                </a:cubicBezTo>
                <a:lnTo>
                  <a:pt x="450592" y="199668"/>
                </a:lnTo>
                <a:cubicBezTo>
                  <a:pt x="462469" y="199668"/>
                  <a:pt x="472023" y="209223"/>
                  <a:pt x="472023" y="221099"/>
                </a:cubicBezTo>
                <a:lnTo>
                  <a:pt x="472023" y="226546"/>
                </a:lnTo>
                <a:cubicBezTo>
                  <a:pt x="472023" y="243423"/>
                  <a:pt x="493544" y="255836"/>
                  <a:pt x="508189" y="247442"/>
                </a:cubicBezTo>
                <a:lnTo>
                  <a:pt x="512653" y="244852"/>
                </a:lnTo>
                <a:cubicBezTo>
                  <a:pt x="523012" y="238869"/>
                  <a:pt x="536317" y="242530"/>
                  <a:pt x="542121" y="252978"/>
                </a:cubicBezTo>
                <a:lnTo>
                  <a:pt x="562124" y="288875"/>
                </a:lnTo>
                <a:cubicBezTo>
                  <a:pt x="567660" y="298877"/>
                  <a:pt x="564446" y="311378"/>
                  <a:pt x="554801" y="317450"/>
                </a:cubicBezTo>
                <a:lnTo>
                  <a:pt x="550605" y="320040"/>
                </a:lnTo>
                <a:cubicBezTo>
                  <a:pt x="536138" y="329059"/>
                  <a:pt x="536138" y="355669"/>
                  <a:pt x="550605" y="364778"/>
                </a:cubicBezTo>
                <a:lnTo>
                  <a:pt x="554712" y="367367"/>
                </a:lnTo>
                <a:cubicBezTo>
                  <a:pt x="564356" y="373440"/>
                  <a:pt x="567660" y="385941"/>
                  <a:pt x="562124" y="395942"/>
                </a:cubicBezTo>
                <a:lnTo>
                  <a:pt x="542032" y="432018"/>
                </a:lnTo>
                <a:cubicBezTo>
                  <a:pt x="536228" y="442466"/>
                  <a:pt x="522922" y="446216"/>
                  <a:pt x="512564" y="440144"/>
                </a:cubicBezTo>
                <a:lnTo>
                  <a:pt x="508189" y="437555"/>
                </a:lnTo>
                <a:cubicBezTo>
                  <a:pt x="493544" y="429071"/>
                  <a:pt x="472023" y="441573"/>
                  <a:pt x="472023" y="458450"/>
                </a:cubicBezTo>
                <a:lnTo>
                  <a:pt x="472023" y="463897"/>
                </a:lnTo>
                <a:cubicBezTo>
                  <a:pt x="472023" y="475774"/>
                  <a:pt x="462469" y="485329"/>
                  <a:pt x="450592" y="485329"/>
                </a:cubicBezTo>
                <a:lnTo>
                  <a:pt x="407730" y="485329"/>
                </a:lnTo>
                <a:cubicBezTo>
                  <a:pt x="395853" y="485329"/>
                  <a:pt x="386298" y="475774"/>
                  <a:pt x="386298" y="463897"/>
                </a:cubicBezTo>
                <a:lnTo>
                  <a:pt x="386298" y="458629"/>
                </a:lnTo>
                <a:cubicBezTo>
                  <a:pt x="386298" y="441662"/>
                  <a:pt x="364688" y="429161"/>
                  <a:pt x="349954" y="437644"/>
                </a:cubicBezTo>
                <a:lnTo>
                  <a:pt x="345668" y="440144"/>
                </a:lnTo>
                <a:cubicBezTo>
                  <a:pt x="335310" y="446127"/>
                  <a:pt x="322094" y="442466"/>
                  <a:pt x="316200" y="432018"/>
                </a:cubicBezTo>
                <a:lnTo>
                  <a:pt x="296019" y="395942"/>
                </a:lnTo>
                <a:cubicBezTo>
                  <a:pt x="290483" y="385941"/>
                  <a:pt x="293697" y="373350"/>
                  <a:pt x="303431" y="367278"/>
                </a:cubicBezTo>
                <a:lnTo>
                  <a:pt x="307360" y="364867"/>
                </a:lnTo>
                <a:cubicBezTo>
                  <a:pt x="321915" y="355848"/>
                  <a:pt x="321915" y="329059"/>
                  <a:pt x="307360" y="320040"/>
                </a:cubicBezTo>
                <a:lnTo>
                  <a:pt x="303341" y="317540"/>
                </a:lnTo>
                <a:cubicBezTo>
                  <a:pt x="293608" y="311468"/>
                  <a:pt x="290393" y="298877"/>
                  <a:pt x="295930" y="288875"/>
                </a:cubicBezTo>
                <a:lnTo>
                  <a:pt x="316022" y="252889"/>
                </a:lnTo>
                <a:cubicBezTo>
                  <a:pt x="321826" y="242441"/>
                  <a:pt x="335131" y="238780"/>
                  <a:pt x="345400" y="244763"/>
                </a:cubicBezTo>
                <a:lnTo>
                  <a:pt x="349687" y="247263"/>
                </a:lnTo>
                <a:cubicBezTo>
                  <a:pt x="364421" y="255746"/>
                  <a:pt x="386030" y="243245"/>
                  <a:pt x="386030" y="226278"/>
                </a:cubicBezTo>
                <a:lnTo>
                  <a:pt x="386030" y="221010"/>
                </a:lnTo>
                <a:close/>
                <a:moveTo>
                  <a:pt x="475506" y="342721"/>
                </a:moveTo>
                <a:cubicBezTo>
                  <a:pt x="475506" y="317094"/>
                  <a:pt x="454699" y="296287"/>
                  <a:pt x="429071" y="296287"/>
                </a:cubicBezTo>
                <a:cubicBezTo>
                  <a:pt x="403444" y="296287"/>
                  <a:pt x="382637" y="317094"/>
                  <a:pt x="382637" y="342721"/>
                </a:cubicBezTo>
                <a:cubicBezTo>
                  <a:pt x="382637" y="368349"/>
                  <a:pt x="403444" y="389156"/>
                  <a:pt x="429071" y="389156"/>
                </a:cubicBezTo>
                <a:cubicBezTo>
                  <a:pt x="454699" y="389156"/>
                  <a:pt x="475506" y="368349"/>
                  <a:pt x="475506" y="342721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6" name="Text 3"/>
          <p:cNvSpPr/>
          <p:nvPr/>
        </p:nvSpPr>
        <p:spPr>
          <a:xfrm>
            <a:off x="1473200" y="2057400"/>
            <a:ext cx="414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Gestion des Patientes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3199" y="2413000"/>
            <a:ext cx="438930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Historique médical complet et rappels automatisés.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7600" y="1016000"/>
            <a:ext cx="5740400" cy="2692400"/>
          </a:xfrm>
          <a:custGeom>
            <a:avLst/>
            <a:gdLst/>
            <a:ahLst/>
            <a:cxnLst/>
            <a:rect l="l" t="t" r="r" b="b"/>
            <a:pathLst>
              <a:path w="5740400" h="2692400">
                <a:moveTo>
                  <a:pt x="101611" y="0"/>
                </a:moveTo>
                <a:lnTo>
                  <a:pt x="5638789" y="0"/>
                </a:lnTo>
                <a:cubicBezTo>
                  <a:pt x="5694907" y="0"/>
                  <a:pt x="5740400" y="45493"/>
                  <a:pt x="5740400" y="101611"/>
                </a:cubicBezTo>
                <a:lnTo>
                  <a:pt x="5740400" y="2590789"/>
                </a:lnTo>
                <a:cubicBezTo>
                  <a:pt x="5740400" y="2646907"/>
                  <a:pt x="5694907" y="2692400"/>
                  <a:pt x="5638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32695" y="2133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1837" y="16877"/>
                </a:moveTo>
                <a:cubicBezTo>
                  <a:pt x="422106" y="21431"/>
                  <a:pt x="428625" y="31611"/>
                  <a:pt x="428625" y="42863"/>
                </a:cubicBezTo>
                <a:lnTo>
                  <a:pt x="428625" y="414338"/>
                </a:lnTo>
                <a:cubicBezTo>
                  <a:pt x="428625" y="425589"/>
                  <a:pt x="422106" y="435769"/>
                  <a:pt x="411837" y="440323"/>
                </a:cubicBezTo>
                <a:cubicBezTo>
                  <a:pt x="401568" y="444877"/>
                  <a:pt x="389692" y="443180"/>
                  <a:pt x="381208" y="435769"/>
                </a:cubicBezTo>
                <a:lnTo>
                  <a:pt x="339596" y="399425"/>
                </a:lnTo>
                <a:cubicBezTo>
                  <a:pt x="300663" y="365403"/>
                  <a:pt x="251460" y="345579"/>
                  <a:pt x="199936" y="343168"/>
                </a:cubicBezTo>
                <a:lnTo>
                  <a:pt x="199936" y="428625"/>
                </a:lnTo>
                <a:cubicBezTo>
                  <a:pt x="199936" y="444431"/>
                  <a:pt x="187166" y="457200"/>
                  <a:pt x="171361" y="457200"/>
                </a:cubicBezTo>
                <a:lnTo>
                  <a:pt x="142786" y="457200"/>
                </a:lnTo>
                <a:cubicBezTo>
                  <a:pt x="126980" y="457200"/>
                  <a:pt x="114211" y="444431"/>
                  <a:pt x="114211" y="428625"/>
                </a:cubicBezTo>
                <a:lnTo>
                  <a:pt x="114211" y="342900"/>
                </a:lnTo>
                <a:cubicBezTo>
                  <a:pt x="51167" y="342900"/>
                  <a:pt x="0" y="291733"/>
                  <a:pt x="0" y="228600"/>
                </a:cubicBezTo>
                <a:cubicBezTo>
                  <a:pt x="0" y="165467"/>
                  <a:pt x="51167" y="114300"/>
                  <a:pt x="114300" y="114300"/>
                </a:cubicBezTo>
                <a:lnTo>
                  <a:pt x="189756" y="114300"/>
                </a:lnTo>
                <a:cubicBezTo>
                  <a:pt x="244941" y="114121"/>
                  <a:pt x="298162" y="94030"/>
                  <a:pt x="339685" y="57775"/>
                </a:cubicBezTo>
                <a:lnTo>
                  <a:pt x="381298" y="21431"/>
                </a:lnTo>
                <a:cubicBezTo>
                  <a:pt x="389692" y="14020"/>
                  <a:pt x="401747" y="12323"/>
                  <a:pt x="411926" y="16877"/>
                </a:cubicBezTo>
                <a:close/>
                <a:moveTo>
                  <a:pt x="200025" y="285750"/>
                </a:moveTo>
                <a:lnTo>
                  <a:pt x="200025" y="285929"/>
                </a:lnTo>
                <a:cubicBezTo>
                  <a:pt x="262801" y="288340"/>
                  <a:pt x="323076" y="311378"/>
                  <a:pt x="371475" y="351473"/>
                </a:cubicBezTo>
                <a:lnTo>
                  <a:pt x="371475" y="105638"/>
                </a:lnTo>
                <a:cubicBezTo>
                  <a:pt x="323076" y="145733"/>
                  <a:pt x="262801" y="168771"/>
                  <a:pt x="200025" y="171182"/>
                </a:cubicBezTo>
                <a:lnTo>
                  <a:pt x="200025" y="285750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0" name="Text 7"/>
          <p:cNvSpPr/>
          <p:nvPr/>
        </p:nvSpPr>
        <p:spPr>
          <a:xfrm>
            <a:off x="7324990" y="1930400"/>
            <a:ext cx="452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Campagnes de Dépistage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24990" y="2286000"/>
            <a:ext cx="47082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Collecte centralisée des données issues des actions de terrain.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3911600"/>
            <a:ext cx="5740400" cy="2692400"/>
          </a:xfrm>
          <a:custGeom>
            <a:avLst/>
            <a:gdLst/>
            <a:ahLst/>
            <a:cxnLst/>
            <a:rect l="l" t="t" r="r" b="b"/>
            <a:pathLst>
              <a:path w="5740400" h="2692400">
                <a:moveTo>
                  <a:pt x="101611" y="0"/>
                </a:moveTo>
                <a:lnTo>
                  <a:pt x="5638789" y="0"/>
                </a:lnTo>
                <a:cubicBezTo>
                  <a:pt x="5694907" y="0"/>
                  <a:pt x="5740400" y="45493"/>
                  <a:pt x="5740400" y="101611"/>
                </a:cubicBezTo>
                <a:lnTo>
                  <a:pt x="5740400" y="2590789"/>
                </a:lnTo>
                <a:cubicBezTo>
                  <a:pt x="5740400" y="2646907"/>
                  <a:pt x="5694907" y="2692400"/>
                  <a:pt x="5638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85391" y="5029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4" name="Text 11"/>
          <p:cNvSpPr/>
          <p:nvPr/>
        </p:nvSpPr>
        <p:spPr>
          <a:xfrm>
            <a:off x="1374114" y="4826000"/>
            <a:ext cx="453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Tableau de Bord Analytique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4114" y="5181600"/>
            <a:ext cx="4508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Statistiques interactives et en temps réel pour les responsables.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97600" y="3911600"/>
            <a:ext cx="5740400" cy="2692400"/>
          </a:xfrm>
          <a:custGeom>
            <a:avLst/>
            <a:gdLst/>
            <a:ahLst/>
            <a:cxnLst/>
            <a:rect l="l" t="t" r="r" b="b"/>
            <a:pathLst>
              <a:path w="5740400" h="2692400">
                <a:moveTo>
                  <a:pt x="101611" y="0"/>
                </a:moveTo>
                <a:lnTo>
                  <a:pt x="5638789" y="0"/>
                </a:lnTo>
                <a:cubicBezTo>
                  <a:pt x="5694907" y="0"/>
                  <a:pt x="5740400" y="45493"/>
                  <a:pt x="5740400" y="101611"/>
                </a:cubicBezTo>
                <a:lnTo>
                  <a:pt x="5740400" y="2590789"/>
                </a:lnTo>
                <a:cubicBezTo>
                  <a:pt x="5740400" y="2646907"/>
                  <a:pt x="5694907" y="2692400"/>
                  <a:pt x="5638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A8B8B2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547908" y="5029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18" name="Text 15"/>
          <p:cNvSpPr/>
          <p:nvPr/>
        </p:nvSpPr>
        <p:spPr>
          <a:xfrm>
            <a:off x="7298399" y="4826000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Notifications Intelligentes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98399" y="5181600"/>
            <a:ext cx="4521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SMS, email et chatbot pour maintenir l'engagement des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patientes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4-d2nfa6h8bjvh7rlj0gl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210"/>
            <a:ext cx="12312015" cy="69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447800"/>
            <a:ext cx="90125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r>
              <a:rPr lang="en-US" sz="3000" b="1" dirty="0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euille </a:t>
            </a:r>
            <a:r>
              <a:rPr lang="en-US" sz="3000" b="1" dirty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 r</a:t>
            </a:r>
            <a:r>
              <a:rPr lang="en-US" sz="3000" b="1" dirty="0" smtClean="0">
                <a:solidFill>
                  <a:srgbClr val="5A6D64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565400"/>
            <a:ext cx="556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Prochaines é</a:t>
            </a:r>
            <a:r>
              <a:rPr lang="en-US" sz="2000" b="1" dirty="0" smtClean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tapes </a:t>
            </a:r>
            <a:r>
              <a:rPr lang="en-US" sz="2000" b="1" dirty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</a:t>
            </a:r>
            <a:r>
              <a:rPr lang="en-US" sz="2000" b="1" dirty="0" smtClean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mmédiates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022600"/>
            <a:ext cx="55245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Tester le MVP à grande échelle sur le terrain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Ouvrir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ronde de financement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Sécuriser des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partenariats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fr-FR" sz="1400" dirty="0" smtClean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stratégiques</a:t>
            </a:r>
            <a:endParaRPr lang="fr-FR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4191000"/>
            <a:ext cx="556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Vision à </a:t>
            </a:r>
            <a:r>
              <a:rPr lang="en-US" sz="2000" b="1" dirty="0" smtClean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 </a:t>
            </a:r>
            <a:r>
              <a:rPr lang="fr-FR" sz="2000" b="1" dirty="0" smtClean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terme</a:t>
            </a:r>
            <a:r>
              <a:rPr lang="en-US" sz="2000" b="1" dirty="0" smtClean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000" b="1" dirty="0">
                <a:solidFill>
                  <a:srgbClr val="6E99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(2026+)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000" y="4648200"/>
            <a:ext cx="552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Évoluer vers </a:t>
            </a: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plateforme santé intégrée, couvrant cancers, maladies respiratoires et infectieuses, et déployer ce modèle à l'échelle du continent africain.</a:t>
            </a:r>
            <a:endParaRPr lang="en-US" sz="1600" dirty="0"/>
          </a:p>
        </p:txBody>
      </p:sp>
      <p:pic>
        <p:nvPicPr>
          <p:cNvPr id="9" name="Image 1" descr="https://kimi-web-img.moonshot.cn/img/thumbs.dreamstime.com/af9cb34766efdebc3b13fe2e622f5941babac164.jpg"/>
          <p:cNvPicPr>
            <a:picLocks noChangeAspect="1"/>
          </p:cNvPicPr>
          <p:nvPr/>
        </p:nvPicPr>
        <p:blipFill>
          <a:blip r:embed="rId4"/>
          <a:srcRect t="30825" b="30825"/>
          <a:stretch/>
        </p:blipFill>
        <p:spPr>
          <a:xfrm>
            <a:off x="7475548" y="2733772"/>
            <a:ext cx="4161885" cy="1685827"/>
          </a:xfrm>
          <a:prstGeom prst="roundRect">
            <a:avLst>
              <a:gd name="adj" fmla="val 8333"/>
            </a:avLst>
          </a:prstGeom>
        </p:spPr>
      </p:pic>
      <p:sp>
        <p:nvSpPr>
          <p:cNvPr id="10" name="Shape 13"/>
          <p:cNvSpPr/>
          <p:nvPr/>
        </p:nvSpPr>
        <p:spPr>
          <a:xfrm>
            <a:off x="254000" y="5727569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6E9986"/>
          </a:solidFill>
          <a:ln/>
        </p:spPr>
      </p:sp>
      <p:sp>
        <p:nvSpPr>
          <p:cNvPr id="8" name="ZoneTexte 7"/>
          <p:cNvSpPr txBox="1"/>
          <p:nvPr/>
        </p:nvSpPr>
        <p:spPr>
          <a:xfrm flipH="1">
            <a:off x="471340" y="5923903"/>
            <a:ext cx="1253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Rejoignez-nous pour créer la première plateforme numérique africaine de suivi des maladies prioritaires.</a:t>
            </a:r>
            <a:endParaRPr lang="en-US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7:56-d2nfa718bjvh7rlj0gm0.png"/>
          <p:cNvPicPr>
            <a:picLocks noChangeAspect="1"/>
          </p:cNvPicPr>
          <p:nvPr/>
        </p:nvPicPr>
        <p:blipFill>
          <a:blip r:embed="rId3"/>
          <a:srcRect l="13" r="13"/>
          <a:stretch/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115342"/>
            <a:ext cx="10333990" cy="24199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6000" b="1" dirty="0" smtClean="0">
                <a:solidFill>
                  <a:schemeClr val="accent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</a:t>
            </a:r>
            <a:r>
              <a:rPr lang="en-US" sz="13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6000" b="1" dirty="0" smtClean="0">
                <a:solidFill>
                  <a:schemeClr val="accent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</a:t>
            </a:r>
            <a:endParaRPr lang="en-US" sz="6000" b="1" dirty="0">
              <a:solidFill>
                <a:schemeClr val="accent6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755</Words>
  <Application>Microsoft Office PowerPoint</Application>
  <PresentationFormat>Grand écran</PresentationFormat>
  <Paragraphs>156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MiSans</vt:lpstr>
      <vt:lpstr>Noto Sans SC</vt:lpstr>
      <vt:lpstr>Calibri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CerviCare+ : Santé Numérique du Col</dc:title>
  <dc:subject>CerviCare+ : Santé Numérique du Col</dc:subject>
  <dc:creator>Kimi</dc:creator>
  <cp:lastModifiedBy>HP</cp:lastModifiedBy>
  <cp:revision>23</cp:revision>
  <dcterms:created xsi:type="dcterms:W3CDTF">2025-11-28T01:00:27Z</dcterms:created>
  <dcterms:modified xsi:type="dcterms:W3CDTF">2026-06-21T21:42:35Z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{"Label":"CerviCare+ : Santé Numérique du Col","ContentProducer":"001191110108MACG2KBH8F10000","ProduceID":"d4kf3j8ge03pbf2lbc90","ReservedCode1":"","ContentPropagator":"001191110108MACG2KBH8F20000","PropagateID":"d4kf3j8ge03pbf2lbc90","ReservedCode2":""}</vt:lpwstr>
  </property>
</Properties>
</file>